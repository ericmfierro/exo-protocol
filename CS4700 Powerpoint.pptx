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33" d="100"/>
          <a:sy n="33" d="100"/>
        </p:scale>
        <p:origin x="330" y="-16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2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0" cy="5943600"/>
          </a:xfrm>
          <a:prstGeom prst="rect">
            <a:avLst/>
          </a:prstGeom>
          <a:solidFill>
            <a:srgbClr val="1E5631"/>
          </a:solidFill>
          <a:ln/>
        </p:spPr>
        <p:txBody>
          <a:bodyPr/>
          <a:lstStyle/>
          <a:p>
            <a:endParaRPr lang="en-US" sz="3200"/>
          </a:p>
        </p:txBody>
      </p:sp>
      <p:sp>
        <p:nvSpPr>
          <p:cNvPr id="3" name="Text 1"/>
          <p:cNvSpPr/>
          <p:nvPr/>
        </p:nvSpPr>
        <p:spPr>
          <a:xfrm>
            <a:off x="640080" y="411480"/>
            <a:ext cx="16459200" cy="502920"/>
          </a:xfrm>
          <a:prstGeom prst="rect">
            <a:avLst/>
          </a:prstGeom>
          <a:noFill/>
          <a:ln/>
        </p:spPr>
        <p:txBody>
          <a:bodyPr wrap="square" lIns="0" tIns="0" rIns="0" bIns="0" rtlCol="0" anchor="ctr"/>
          <a:lstStyle/>
          <a:p>
            <a:pPr marL="0" indent="0">
              <a:buNone/>
            </a:pPr>
            <a:r>
              <a:rPr lang="en-US" sz="3200" b="1" kern="0" spc="600" dirty="0">
                <a:solidFill>
                  <a:srgbClr val="FFC72C"/>
                </a:solidFill>
                <a:latin typeface="Consolas" pitchFamily="34" charset="0"/>
                <a:ea typeface="Consolas" pitchFamily="34" charset="-122"/>
                <a:cs typeface="Consolas" pitchFamily="34" charset="-120"/>
              </a:rPr>
              <a:t>CS 4700  ·  GAME DESIGN STUDIO 4</a:t>
            </a:r>
            <a:endParaRPr lang="en-US" sz="3200" dirty="0"/>
          </a:p>
        </p:txBody>
      </p:sp>
      <p:sp>
        <p:nvSpPr>
          <p:cNvPr id="4" name="Text 2"/>
          <p:cNvSpPr/>
          <p:nvPr/>
        </p:nvSpPr>
        <p:spPr>
          <a:xfrm>
            <a:off x="26791920" y="411480"/>
            <a:ext cx="16459200" cy="502920"/>
          </a:xfrm>
          <a:prstGeom prst="rect">
            <a:avLst/>
          </a:prstGeom>
          <a:noFill/>
          <a:ln/>
        </p:spPr>
        <p:txBody>
          <a:bodyPr wrap="square" lIns="0" tIns="0" rIns="0" bIns="0" rtlCol="0" anchor="ctr"/>
          <a:lstStyle/>
          <a:p>
            <a:pPr marL="0" indent="0" algn="r">
              <a:buNone/>
            </a:pPr>
            <a:r>
              <a:rPr lang="en-US" sz="3200" b="1" kern="0" spc="600" dirty="0">
                <a:solidFill>
                  <a:srgbClr val="FFC72C"/>
                </a:solidFill>
                <a:latin typeface="Consolas" pitchFamily="34" charset="0"/>
                <a:ea typeface="Consolas" pitchFamily="34" charset="-122"/>
                <a:cs typeface="Consolas" pitchFamily="34" charset="-120"/>
              </a:rPr>
              <a:t>SPRING 2026  ·  BRONCO GAME SHOWCASE</a:t>
            </a:r>
            <a:endParaRPr lang="en-US" sz="3200" dirty="0"/>
          </a:p>
        </p:txBody>
      </p:sp>
      <p:sp>
        <p:nvSpPr>
          <p:cNvPr id="5" name="Text 3"/>
          <p:cNvSpPr/>
          <p:nvPr/>
        </p:nvSpPr>
        <p:spPr>
          <a:xfrm>
            <a:off x="914400" y="1097280"/>
            <a:ext cx="42062400" cy="2743200"/>
          </a:xfrm>
          <a:prstGeom prst="rect">
            <a:avLst/>
          </a:prstGeom>
          <a:noFill/>
          <a:ln/>
        </p:spPr>
        <p:txBody>
          <a:bodyPr wrap="square" lIns="0" tIns="0" rIns="0" bIns="0" rtlCol="0" anchor="ctr"/>
          <a:lstStyle/>
          <a:p>
            <a:pPr marL="0" indent="0" algn="ctr">
              <a:buNone/>
            </a:pPr>
            <a:r>
              <a:rPr lang="en-US" sz="8000" b="1" dirty="0">
                <a:solidFill>
                  <a:srgbClr val="FFFFFF"/>
                </a:solidFill>
                <a:latin typeface="Impact" pitchFamily="34" charset="0"/>
                <a:ea typeface="Impact" pitchFamily="34" charset="-122"/>
                <a:cs typeface="Impact" pitchFamily="34" charset="-120"/>
              </a:rPr>
              <a:t>Exo Protocol</a:t>
            </a:r>
            <a:endParaRPr lang="en-US" sz="8000" dirty="0"/>
          </a:p>
        </p:txBody>
      </p:sp>
      <p:sp>
        <p:nvSpPr>
          <p:cNvPr id="6" name="Text 4"/>
          <p:cNvSpPr/>
          <p:nvPr/>
        </p:nvSpPr>
        <p:spPr>
          <a:xfrm>
            <a:off x="3657600" y="3931920"/>
            <a:ext cx="36576000" cy="822960"/>
          </a:xfrm>
          <a:prstGeom prst="rect">
            <a:avLst/>
          </a:prstGeom>
          <a:noFill/>
          <a:ln/>
        </p:spPr>
        <p:txBody>
          <a:bodyPr wrap="square" lIns="0" tIns="0" rIns="0" bIns="0" rtlCol="0" anchor="ctr"/>
          <a:lstStyle/>
          <a:p>
            <a:pPr algn="ctr"/>
            <a:r>
              <a:rPr lang="en-US" sz="3200" dirty="0">
                <a:solidFill>
                  <a:schemeClr val="bg1"/>
                </a:solidFill>
              </a:rPr>
              <a:t>A tactical survival FPS prototype focused on psychological pressure.</a:t>
            </a:r>
          </a:p>
        </p:txBody>
      </p:sp>
      <p:sp>
        <p:nvSpPr>
          <p:cNvPr id="7" name="Shape 5"/>
          <p:cNvSpPr/>
          <p:nvPr/>
        </p:nvSpPr>
        <p:spPr>
          <a:xfrm>
            <a:off x="14721840" y="4937760"/>
            <a:ext cx="4572000" cy="731520"/>
          </a:xfrm>
          <a:prstGeom prst="roundRect">
            <a:avLst>
              <a:gd name="adj" fmla="val 50000"/>
            </a:avLst>
          </a:prstGeom>
          <a:solidFill>
            <a:srgbClr val="0F3D1F"/>
          </a:solidFill>
          <a:ln w="19050">
            <a:solidFill>
              <a:srgbClr val="FFC72C"/>
            </a:solidFill>
            <a:prstDash val="solid"/>
          </a:ln>
        </p:spPr>
        <p:txBody>
          <a:bodyPr/>
          <a:lstStyle/>
          <a:p>
            <a:endParaRPr lang="en-US" sz="3200"/>
          </a:p>
        </p:txBody>
      </p:sp>
      <p:sp>
        <p:nvSpPr>
          <p:cNvPr id="8" name="Text 6"/>
          <p:cNvSpPr/>
          <p:nvPr/>
        </p:nvSpPr>
        <p:spPr>
          <a:xfrm>
            <a:off x="14721840" y="4937760"/>
            <a:ext cx="4572000" cy="731520"/>
          </a:xfrm>
          <a:prstGeom prst="rect">
            <a:avLst/>
          </a:prstGeom>
          <a:noFill/>
          <a:ln/>
        </p:spPr>
        <p:txBody>
          <a:bodyPr wrap="square" lIns="0" tIns="0" rIns="0" bIns="0" rtlCol="0" anchor="ctr"/>
          <a:lstStyle/>
          <a:p>
            <a:pPr marL="0" indent="0" algn="ctr">
              <a:buNone/>
            </a:pPr>
            <a:r>
              <a:rPr lang="en-US" sz="3200" b="1" kern="0" spc="300" dirty="0">
                <a:solidFill>
                  <a:srgbClr val="FFFFFF"/>
                </a:solidFill>
                <a:latin typeface="Consolas" pitchFamily="34" charset="0"/>
                <a:ea typeface="Consolas" pitchFamily="34" charset="-122"/>
                <a:cs typeface="Consolas" pitchFamily="34" charset="-120"/>
              </a:rPr>
              <a:t>Survival FPS</a:t>
            </a:r>
            <a:endParaRPr lang="en-US" sz="3200" dirty="0"/>
          </a:p>
        </p:txBody>
      </p:sp>
      <p:sp>
        <p:nvSpPr>
          <p:cNvPr id="9" name="Shape 7"/>
          <p:cNvSpPr/>
          <p:nvPr/>
        </p:nvSpPr>
        <p:spPr>
          <a:xfrm>
            <a:off x="19659600" y="4937760"/>
            <a:ext cx="4572000" cy="731520"/>
          </a:xfrm>
          <a:prstGeom prst="roundRect">
            <a:avLst>
              <a:gd name="adj" fmla="val 50000"/>
            </a:avLst>
          </a:prstGeom>
          <a:solidFill>
            <a:srgbClr val="0F3D1F"/>
          </a:solidFill>
          <a:ln w="19050">
            <a:solidFill>
              <a:srgbClr val="FFC72C"/>
            </a:solidFill>
            <a:prstDash val="solid"/>
          </a:ln>
        </p:spPr>
        <p:txBody>
          <a:bodyPr/>
          <a:lstStyle/>
          <a:p>
            <a:endParaRPr lang="en-US" sz="3200"/>
          </a:p>
        </p:txBody>
      </p:sp>
      <p:sp>
        <p:nvSpPr>
          <p:cNvPr id="10" name="Text 8"/>
          <p:cNvSpPr/>
          <p:nvPr/>
        </p:nvSpPr>
        <p:spPr>
          <a:xfrm>
            <a:off x="19659600" y="4937760"/>
            <a:ext cx="4572000" cy="731520"/>
          </a:xfrm>
          <a:prstGeom prst="rect">
            <a:avLst/>
          </a:prstGeom>
          <a:noFill/>
          <a:ln/>
        </p:spPr>
        <p:txBody>
          <a:bodyPr wrap="square" lIns="0" tIns="0" rIns="0" bIns="0" rtlCol="0" anchor="ctr"/>
          <a:lstStyle/>
          <a:p>
            <a:pPr marL="0" indent="0" algn="ctr">
              <a:buNone/>
            </a:pPr>
            <a:r>
              <a:rPr lang="en-US" sz="3200" b="1" kern="0" spc="300" dirty="0">
                <a:solidFill>
                  <a:srgbClr val="FFFFFF"/>
                </a:solidFill>
                <a:latin typeface="Consolas" pitchFamily="34" charset="0"/>
                <a:ea typeface="Consolas" pitchFamily="34" charset="-122"/>
                <a:cs typeface="Consolas" pitchFamily="34" charset="-120"/>
              </a:rPr>
              <a:t>First-Person</a:t>
            </a:r>
            <a:endParaRPr lang="en-US" sz="3200" dirty="0"/>
          </a:p>
        </p:txBody>
      </p:sp>
      <p:sp>
        <p:nvSpPr>
          <p:cNvPr id="11" name="Shape 9"/>
          <p:cNvSpPr/>
          <p:nvPr/>
        </p:nvSpPr>
        <p:spPr>
          <a:xfrm>
            <a:off x="24597360" y="4937760"/>
            <a:ext cx="4572000" cy="731520"/>
          </a:xfrm>
          <a:prstGeom prst="roundRect">
            <a:avLst>
              <a:gd name="adj" fmla="val 50000"/>
            </a:avLst>
          </a:prstGeom>
          <a:solidFill>
            <a:srgbClr val="0F3D1F"/>
          </a:solidFill>
          <a:ln w="19050">
            <a:solidFill>
              <a:srgbClr val="FFC72C"/>
            </a:solidFill>
            <a:prstDash val="solid"/>
          </a:ln>
        </p:spPr>
        <p:txBody>
          <a:bodyPr/>
          <a:lstStyle/>
          <a:p>
            <a:endParaRPr lang="en-US" sz="3200"/>
          </a:p>
        </p:txBody>
      </p:sp>
      <p:sp>
        <p:nvSpPr>
          <p:cNvPr id="12" name="Text 10"/>
          <p:cNvSpPr/>
          <p:nvPr/>
        </p:nvSpPr>
        <p:spPr>
          <a:xfrm>
            <a:off x="24597360" y="4937760"/>
            <a:ext cx="4572000" cy="731520"/>
          </a:xfrm>
          <a:prstGeom prst="rect">
            <a:avLst/>
          </a:prstGeom>
          <a:noFill/>
          <a:ln/>
        </p:spPr>
        <p:txBody>
          <a:bodyPr wrap="square" lIns="0" tIns="0" rIns="0" bIns="0" rtlCol="0" anchor="ctr"/>
          <a:lstStyle/>
          <a:p>
            <a:pPr marL="0" indent="0" algn="ctr">
              <a:buNone/>
            </a:pPr>
            <a:r>
              <a:rPr lang="en-US" sz="3200" b="1" kern="0" spc="300" dirty="0">
                <a:solidFill>
                  <a:srgbClr val="FFFFFF"/>
                </a:solidFill>
                <a:latin typeface="Consolas" pitchFamily="34" charset="0"/>
                <a:ea typeface="Consolas" pitchFamily="34" charset="-122"/>
                <a:cs typeface="Consolas" pitchFamily="34" charset="-120"/>
              </a:rPr>
              <a:t>PC</a:t>
            </a:r>
            <a:endParaRPr lang="en-US" sz="3200" dirty="0"/>
          </a:p>
        </p:txBody>
      </p:sp>
      <p:sp>
        <p:nvSpPr>
          <p:cNvPr id="13" name="Shape 11"/>
          <p:cNvSpPr/>
          <p:nvPr/>
        </p:nvSpPr>
        <p:spPr>
          <a:xfrm>
            <a:off x="0" y="5852160"/>
            <a:ext cx="43891200" cy="91440"/>
          </a:xfrm>
          <a:prstGeom prst="rect">
            <a:avLst/>
          </a:prstGeom>
          <a:solidFill>
            <a:srgbClr val="FFC72C"/>
          </a:solidFill>
          <a:ln/>
        </p:spPr>
        <p:txBody>
          <a:bodyPr/>
          <a:lstStyle/>
          <a:p>
            <a:endParaRPr lang="en-US" sz="3200"/>
          </a:p>
        </p:txBody>
      </p:sp>
      <p:sp>
        <p:nvSpPr>
          <p:cNvPr id="14" name="Shape 12"/>
          <p:cNvSpPr/>
          <p:nvPr/>
        </p:nvSpPr>
        <p:spPr>
          <a:xfrm>
            <a:off x="640080" y="6675120"/>
            <a:ext cx="13350240" cy="914400"/>
          </a:xfrm>
          <a:prstGeom prst="rect">
            <a:avLst/>
          </a:prstGeom>
          <a:solidFill>
            <a:srgbClr val="1E5631"/>
          </a:solidFill>
          <a:ln/>
        </p:spPr>
        <p:txBody>
          <a:bodyPr/>
          <a:lstStyle/>
          <a:p>
            <a:endParaRPr lang="en-US" sz="3200"/>
          </a:p>
        </p:txBody>
      </p:sp>
      <p:sp>
        <p:nvSpPr>
          <p:cNvPr id="15" name="Text 13"/>
          <p:cNvSpPr/>
          <p:nvPr/>
        </p:nvSpPr>
        <p:spPr>
          <a:xfrm>
            <a:off x="914400" y="6675120"/>
            <a:ext cx="1371600" cy="914400"/>
          </a:xfrm>
          <a:prstGeom prst="rect">
            <a:avLst/>
          </a:prstGeom>
          <a:noFill/>
          <a:ln/>
        </p:spPr>
        <p:txBody>
          <a:bodyPr wrap="square" lIns="0" tIns="0" rIns="0" bIns="0" rtlCol="0" anchor="ctr"/>
          <a:lstStyle/>
          <a:p>
            <a:pPr marL="0" indent="0" algn="l">
              <a:buNone/>
            </a:pPr>
            <a:r>
              <a:rPr lang="en-US" sz="3200" b="1" dirty="0">
                <a:solidFill>
                  <a:srgbClr val="FFC72C"/>
                </a:solidFill>
                <a:latin typeface="Impact" pitchFamily="34" charset="0"/>
                <a:ea typeface="Impact" pitchFamily="34" charset="-122"/>
                <a:cs typeface="Impact" pitchFamily="34" charset="-120"/>
              </a:rPr>
              <a:t>01</a:t>
            </a:r>
            <a:endParaRPr lang="en-US" sz="3200" dirty="0"/>
          </a:p>
        </p:txBody>
      </p:sp>
      <p:sp>
        <p:nvSpPr>
          <p:cNvPr id="16" name="Text 14"/>
          <p:cNvSpPr/>
          <p:nvPr/>
        </p:nvSpPr>
        <p:spPr>
          <a:xfrm>
            <a:off x="2286000" y="6675120"/>
            <a:ext cx="11521440" cy="91440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Calibri" pitchFamily="34" charset="0"/>
                <a:ea typeface="Calibri" pitchFamily="34" charset="-122"/>
                <a:cs typeface="Calibri" pitchFamily="34" charset="-120"/>
              </a:rPr>
              <a:t>CORE MECHANICS</a:t>
            </a:r>
            <a:endParaRPr lang="en-US" sz="4400" b="1" dirty="0"/>
          </a:p>
        </p:txBody>
      </p:sp>
      <p:sp>
        <p:nvSpPr>
          <p:cNvPr id="17" name="Shape 15"/>
          <p:cNvSpPr/>
          <p:nvPr/>
        </p:nvSpPr>
        <p:spPr>
          <a:xfrm>
            <a:off x="822960" y="7863840"/>
            <a:ext cx="2011680" cy="2011680"/>
          </a:xfrm>
          <a:prstGeom prst="roundRect">
            <a:avLst>
              <a:gd name="adj" fmla="val 9091"/>
            </a:avLst>
          </a:prstGeom>
          <a:solidFill>
            <a:srgbClr val="3A8054"/>
          </a:solidFill>
          <a:ln w="25400">
            <a:solidFill>
              <a:srgbClr val="FFC72C"/>
            </a:solidFill>
            <a:prstDash val="solid"/>
          </a:ln>
        </p:spPr>
        <p:txBody>
          <a:bodyPr/>
          <a:lstStyle/>
          <a:p>
            <a:endParaRPr lang="en-US" sz="3200"/>
          </a:p>
        </p:txBody>
      </p:sp>
      <p:sp>
        <p:nvSpPr>
          <p:cNvPr id="18" name="Text 16"/>
          <p:cNvSpPr/>
          <p:nvPr/>
        </p:nvSpPr>
        <p:spPr>
          <a:xfrm>
            <a:off x="822960" y="7863840"/>
            <a:ext cx="2011680" cy="2011680"/>
          </a:xfrm>
          <a:prstGeom prst="rect">
            <a:avLst/>
          </a:prstGeom>
          <a:noFill/>
          <a:ln/>
        </p:spPr>
        <p:txBody>
          <a:bodyPr wrap="square" lIns="0" tIns="0" rIns="0" bIns="0" rtlCol="0" anchor="ctr"/>
          <a:lstStyle/>
          <a:p>
            <a:pPr marL="0" indent="0" algn="ctr">
              <a:buNone/>
            </a:pPr>
            <a:r>
              <a:rPr lang="en-US" sz="3200" b="1" kern="0" spc="300" dirty="0">
                <a:solidFill>
                  <a:srgbClr val="FFC72C"/>
                </a:solidFill>
                <a:latin typeface="Consolas" pitchFamily="34" charset="0"/>
                <a:ea typeface="Consolas" pitchFamily="34" charset="-122"/>
                <a:cs typeface="Consolas" pitchFamily="34" charset="-120"/>
              </a:rPr>
              <a:t>ICON</a:t>
            </a:r>
            <a:endParaRPr lang="en-US" sz="3200" dirty="0"/>
          </a:p>
        </p:txBody>
      </p:sp>
      <p:sp>
        <p:nvSpPr>
          <p:cNvPr id="19" name="Text 17"/>
          <p:cNvSpPr/>
          <p:nvPr/>
        </p:nvSpPr>
        <p:spPr>
          <a:xfrm>
            <a:off x="3108960" y="7909560"/>
            <a:ext cx="10698480" cy="640080"/>
          </a:xfrm>
          <a:prstGeom prst="rect">
            <a:avLst/>
          </a:prstGeom>
          <a:noFill/>
          <a:ln/>
        </p:spPr>
        <p:txBody>
          <a:bodyPr wrap="square" lIns="0" tIns="0" rIns="0" bIns="0" rtlCol="0" anchor="t"/>
          <a:lstStyle/>
          <a:p>
            <a:pPr marL="0" indent="0">
              <a:buNone/>
            </a:pPr>
            <a:r>
              <a:rPr lang="en-US" sz="3200" b="1" dirty="0">
                <a:solidFill>
                  <a:srgbClr val="1E5631"/>
                </a:solidFill>
                <a:latin typeface="Calibri" pitchFamily="34" charset="0"/>
                <a:ea typeface="Calibri" pitchFamily="34" charset="-122"/>
                <a:cs typeface="Calibri" pitchFamily="34" charset="-120"/>
              </a:rPr>
              <a:t>Combat</a:t>
            </a:r>
            <a:endParaRPr lang="en-US" sz="3200" dirty="0"/>
          </a:p>
        </p:txBody>
      </p:sp>
      <p:sp>
        <p:nvSpPr>
          <p:cNvPr id="20" name="Text 18"/>
          <p:cNvSpPr/>
          <p:nvPr/>
        </p:nvSpPr>
        <p:spPr>
          <a:xfrm>
            <a:off x="3108960" y="8595360"/>
            <a:ext cx="10698480" cy="1280160"/>
          </a:xfrm>
          <a:prstGeom prst="rect">
            <a:avLst/>
          </a:prstGeom>
          <a:noFill/>
          <a:ln/>
        </p:spPr>
        <p:txBody>
          <a:bodyPr wrap="square" lIns="0" tIns="0" rIns="0" bIns="0" rtlCol="0" anchor="t"/>
          <a:lstStyle/>
          <a:p>
            <a:r>
              <a:rPr lang="en-US" sz="3200" dirty="0"/>
              <a:t>Fight hostile enemies while managing positioning, survival, and sustained firefights.</a:t>
            </a:r>
          </a:p>
        </p:txBody>
      </p:sp>
      <p:sp>
        <p:nvSpPr>
          <p:cNvPr id="21" name="Shape 19"/>
          <p:cNvSpPr/>
          <p:nvPr/>
        </p:nvSpPr>
        <p:spPr>
          <a:xfrm>
            <a:off x="822960" y="10469880"/>
            <a:ext cx="2011680" cy="2011680"/>
          </a:xfrm>
          <a:prstGeom prst="roundRect">
            <a:avLst>
              <a:gd name="adj" fmla="val 9091"/>
            </a:avLst>
          </a:prstGeom>
          <a:solidFill>
            <a:srgbClr val="3A8054"/>
          </a:solidFill>
          <a:ln w="25400">
            <a:solidFill>
              <a:srgbClr val="FFC72C"/>
            </a:solidFill>
            <a:prstDash val="solid"/>
          </a:ln>
        </p:spPr>
        <p:txBody>
          <a:bodyPr/>
          <a:lstStyle/>
          <a:p>
            <a:endParaRPr lang="en-US" sz="3200"/>
          </a:p>
        </p:txBody>
      </p:sp>
      <p:sp>
        <p:nvSpPr>
          <p:cNvPr id="22" name="Text 20"/>
          <p:cNvSpPr/>
          <p:nvPr/>
        </p:nvSpPr>
        <p:spPr>
          <a:xfrm>
            <a:off x="822960" y="10469880"/>
            <a:ext cx="2011680" cy="2011680"/>
          </a:xfrm>
          <a:prstGeom prst="rect">
            <a:avLst/>
          </a:prstGeom>
          <a:noFill/>
          <a:ln/>
        </p:spPr>
        <p:txBody>
          <a:bodyPr wrap="square" lIns="0" tIns="0" rIns="0" bIns="0" rtlCol="0" anchor="ctr"/>
          <a:lstStyle/>
          <a:p>
            <a:pPr marL="0" indent="0" algn="ctr">
              <a:buNone/>
            </a:pPr>
            <a:r>
              <a:rPr lang="en-US" sz="3200" b="1" kern="0" spc="300" dirty="0">
                <a:solidFill>
                  <a:srgbClr val="FFC72C"/>
                </a:solidFill>
                <a:latin typeface="Consolas" pitchFamily="34" charset="0"/>
                <a:ea typeface="Consolas" pitchFamily="34" charset="-122"/>
                <a:cs typeface="Consolas" pitchFamily="34" charset="-120"/>
              </a:rPr>
              <a:t>ICON</a:t>
            </a:r>
            <a:endParaRPr lang="en-US" sz="3200" dirty="0"/>
          </a:p>
        </p:txBody>
      </p:sp>
      <p:sp>
        <p:nvSpPr>
          <p:cNvPr id="23" name="Text 21"/>
          <p:cNvSpPr/>
          <p:nvPr/>
        </p:nvSpPr>
        <p:spPr>
          <a:xfrm>
            <a:off x="3108960" y="10515600"/>
            <a:ext cx="10698480" cy="640080"/>
          </a:xfrm>
          <a:prstGeom prst="rect">
            <a:avLst/>
          </a:prstGeom>
          <a:noFill/>
          <a:ln/>
        </p:spPr>
        <p:txBody>
          <a:bodyPr wrap="square" lIns="0" tIns="0" rIns="0" bIns="0" rtlCol="0" anchor="t"/>
          <a:lstStyle/>
          <a:p>
            <a:r>
              <a:rPr lang="en-US" sz="3200" dirty="0"/>
              <a:t>Adaptive AI</a:t>
            </a:r>
          </a:p>
        </p:txBody>
      </p:sp>
      <p:sp>
        <p:nvSpPr>
          <p:cNvPr id="24" name="Text 22"/>
          <p:cNvSpPr/>
          <p:nvPr/>
        </p:nvSpPr>
        <p:spPr>
          <a:xfrm>
            <a:off x="3108960" y="11201400"/>
            <a:ext cx="10698480" cy="1280160"/>
          </a:xfrm>
          <a:prstGeom prst="rect">
            <a:avLst/>
          </a:prstGeom>
          <a:noFill/>
          <a:ln/>
        </p:spPr>
        <p:txBody>
          <a:bodyPr wrap="square" lIns="0" tIns="0" rIns="0" bIns="0" rtlCol="0" anchor="t"/>
          <a:lstStyle/>
          <a:p>
            <a:r>
              <a:rPr lang="en-US" sz="3200" dirty="0"/>
              <a:t>Enemy pressure escalates dynamically based on player performance and combat intensity.</a:t>
            </a:r>
          </a:p>
        </p:txBody>
      </p:sp>
      <p:sp>
        <p:nvSpPr>
          <p:cNvPr id="25" name="Shape 23"/>
          <p:cNvSpPr/>
          <p:nvPr/>
        </p:nvSpPr>
        <p:spPr>
          <a:xfrm>
            <a:off x="822960" y="13075920"/>
            <a:ext cx="2011680" cy="2011680"/>
          </a:xfrm>
          <a:prstGeom prst="roundRect">
            <a:avLst>
              <a:gd name="adj" fmla="val 9091"/>
            </a:avLst>
          </a:prstGeom>
          <a:solidFill>
            <a:srgbClr val="3A8054"/>
          </a:solidFill>
          <a:ln w="25400">
            <a:solidFill>
              <a:srgbClr val="FFC72C"/>
            </a:solidFill>
            <a:prstDash val="solid"/>
          </a:ln>
        </p:spPr>
        <p:txBody>
          <a:bodyPr/>
          <a:lstStyle/>
          <a:p>
            <a:endParaRPr lang="en-US" sz="3200"/>
          </a:p>
        </p:txBody>
      </p:sp>
      <p:sp>
        <p:nvSpPr>
          <p:cNvPr id="26" name="Text 24"/>
          <p:cNvSpPr/>
          <p:nvPr/>
        </p:nvSpPr>
        <p:spPr>
          <a:xfrm>
            <a:off x="822960" y="13075920"/>
            <a:ext cx="2011680" cy="2011680"/>
          </a:xfrm>
          <a:prstGeom prst="rect">
            <a:avLst/>
          </a:prstGeom>
          <a:noFill/>
          <a:ln/>
        </p:spPr>
        <p:txBody>
          <a:bodyPr wrap="square" lIns="0" tIns="0" rIns="0" bIns="0" rtlCol="0" anchor="ctr"/>
          <a:lstStyle/>
          <a:p>
            <a:pPr marL="0" indent="0" algn="ctr">
              <a:buNone/>
            </a:pPr>
            <a:r>
              <a:rPr lang="en-US" sz="3200" b="1" kern="0" spc="300" dirty="0">
                <a:solidFill>
                  <a:srgbClr val="FFC72C"/>
                </a:solidFill>
                <a:latin typeface="Consolas" pitchFamily="34" charset="0"/>
                <a:ea typeface="Consolas" pitchFamily="34" charset="-122"/>
                <a:cs typeface="Consolas" pitchFamily="34" charset="-120"/>
              </a:rPr>
              <a:t>ICON</a:t>
            </a:r>
            <a:endParaRPr lang="en-US" sz="3200" dirty="0"/>
          </a:p>
        </p:txBody>
      </p:sp>
      <p:sp>
        <p:nvSpPr>
          <p:cNvPr id="27" name="Text 25"/>
          <p:cNvSpPr/>
          <p:nvPr/>
        </p:nvSpPr>
        <p:spPr>
          <a:xfrm>
            <a:off x="3108960" y="13121640"/>
            <a:ext cx="10698480" cy="640080"/>
          </a:xfrm>
          <a:prstGeom prst="rect">
            <a:avLst/>
          </a:prstGeom>
          <a:noFill/>
          <a:ln/>
        </p:spPr>
        <p:txBody>
          <a:bodyPr wrap="square" lIns="0" tIns="0" rIns="0" bIns="0" rtlCol="0" anchor="t"/>
          <a:lstStyle/>
          <a:p>
            <a:r>
              <a:rPr lang="en-US" sz="3200" dirty="0"/>
              <a:t>Sanity System</a:t>
            </a:r>
          </a:p>
        </p:txBody>
      </p:sp>
      <p:sp>
        <p:nvSpPr>
          <p:cNvPr id="28" name="Text 26"/>
          <p:cNvSpPr/>
          <p:nvPr/>
        </p:nvSpPr>
        <p:spPr>
          <a:xfrm>
            <a:off x="3108960" y="13807440"/>
            <a:ext cx="10698480" cy="1280160"/>
          </a:xfrm>
          <a:prstGeom prst="rect">
            <a:avLst/>
          </a:prstGeom>
          <a:noFill/>
          <a:ln/>
        </p:spPr>
        <p:txBody>
          <a:bodyPr wrap="square" lIns="0" tIns="0" rIns="0" bIns="0" rtlCol="0" anchor="t"/>
          <a:lstStyle/>
          <a:p>
            <a:r>
              <a:rPr lang="en-US" sz="3200" dirty="0"/>
              <a:t>Psychological effects distort the player’s vision and audio as sanity decreases.</a:t>
            </a:r>
          </a:p>
        </p:txBody>
      </p:sp>
      <p:sp>
        <p:nvSpPr>
          <p:cNvPr id="29" name="Shape 27"/>
          <p:cNvSpPr/>
          <p:nvPr/>
        </p:nvSpPr>
        <p:spPr>
          <a:xfrm>
            <a:off x="822960" y="15681960"/>
            <a:ext cx="2011680" cy="2011680"/>
          </a:xfrm>
          <a:prstGeom prst="roundRect">
            <a:avLst>
              <a:gd name="adj" fmla="val 9091"/>
            </a:avLst>
          </a:prstGeom>
          <a:solidFill>
            <a:srgbClr val="3A8054"/>
          </a:solidFill>
          <a:ln w="25400">
            <a:solidFill>
              <a:srgbClr val="FFC72C"/>
            </a:solidFill>
            <a:prstDash val="solid"/>
          </a:ln>
        </p:spPr>
        <p:txBody>
          <a:bodyPr/>
          <a:lstStyle/>
          <a:p>
            <a:endParaRPr lang="en-US" sz="3200"/>
          </a:p>
        </p:txBody>
      </p:sp>
      <p:sp>
        <p:nvSpPr>
          <p:cNvPr id="30" name="Text 28"/>
          <p:cNvSpPr/>
          <p:nvPr/>
        </p:nvSpPr>
        <p:spPr>
          <a:xfrm>
            <a:off x="822960" y="15681960"/>
            <a:ext cx="2011680" cy="2011680"/>
          </a:xfrm>
          <a:prstGeom prst="rect">
            <a:avLst/>
          </a:prstGeom>
          <a:noFill/>
          <a:ln/>
        </p:spPr>
        <p:txBody>
          <a:bodyPr wrap="square" lIns="0" tIns="0" rIns="0" bIns="0" rtlCol="0" anchor="ctr"/>
          <a:lstStyle/>
          <a:p>
            <a:pPr marL="0" indent="0" algn="ctr">
              <a:buNone/>
            </a:pPr>
            <a:r>
              <a:rPr lang="en-US" sz="3200" b="1" kern="0" spc="300" dirty="0">
                <a:solidFill>
                  <a:srgbClr val="FFC72C"/>
                </a:solidFill>
                <a:latin typeface="Consolas" pitchFamily="34" charset="0"/>
                <a:ea typeface="Consolas" pitchFamily="34" charset="-122"/>
                <a:cs typeface="Consolas" pitchFamily="34" charset="-120"/>
              </a:rPr>
              <a:t>ICON</a:t>
            </a:r>
            <a:endParaRPr lang="en-US" sz="3200" dirty="0"/>
          </a:p>
        </p:txBody>
      </p:sp>
      <p:sp>
        <p:nvSpPr>
          <p:cNvPr id="31" name="Text 29"/>
          <p:cNvSpPr/>
          <p:nvPr/>
        </p:nvSpPr>
        <p:spPr>
          <a:xfrm>
            <a:off x="3108960" y="15727680"/>
            <a:ext cx="10698480" cy="640080"/>
          </a:xfrm>
          <a:prstGeom prst="rect">
            <a:avLst/>
          </a:prstGeom>
          <a:noFill/>
          <a:ln/>
        </p:spPr>
        <p:txBody>
          <a:bodyPr wrap="square" lIns="0" tIns="0" rIns="0" bIns="0" rtlCol="0" anchor="t"/>
          <a:lstStyle/>
          <a:p>
            <a:r>
              <a:rPr lang="en-US" sz="3200" dirty="0"/>
              <a:t>Risk vs Survival</a:t>
            </a:r>
          </a:p>
        </p:txBody>
      </p:sp>
      <p:sp>
        <p:nvSpPr>
          <p:cNvPr id="32" name="Text 30"/>
          <p:cNvSpPr/>
          <p:nvPr/>
        </p:nvSpPr>
        <p:spPr>
          <a:xfrm>
            <a:off x="3108960" y="16413480"/>
            <a:ext cx="10698480" cy="1280160"/>
          </a:xfrm>
          <a:prstGeom prst="rect">
            <a:avLst/>
          </a:prstGeom>
          <a:noFill/>
          <a:ln/>
        </p:spPr>
        <p:txBody>
          <a:bodyPr wrap="square" lIns="0" tIns="0" rIns="0" bIns="0" rtlCol="0" anchor="t"/>
          <a:lstStyle/>
          <a:p>
            <a:r>
              <a:rPr lang="en-US" sz="3200" dirty="0"/>
              <a:t>Aggressive combat increases tension while visual and audio hallucinations intensify.</a:t>
            </a:r>
          </a:p>
        </p:txBody>
      </p:sp>
      <p:sp>
        <p:nvSpPr>
          <p:cNvPr id="33" name="Shape 31"/>
          <p:cNvSpPr/>
          <p:nvPr/>
        </p:nvSpPr>
        <p:spPr>
          <a:xfrm>
            <a:off x="14447520" y="6675120"/>
            <a:ext cx="14264640" cy="914400"/>
          </a:xfrm>
          <a:prstGeom prst="rect">
            <a:avLst/>
          </a:prstGeom>
          <a:solidFill>
            <a:srgbClr val="1E5631"/>
          </a:solidFill>
          <a:ln/>
        </p:spPr>
        <p:txBody>
          <a:bodyPr/>
          <a:lstStyle/>
          <a:p>
            <a:endParaRPr lang="en-US" sz="3200"/>
          </a:p>
        </p:txBody>
      </p:sp>
      <p:sp>
        <p:nvSpPr>
          <p:cNvPr id="34" name="Text 32"/>
          <p:cNvSpPr/>
          <p:nvPr/>
        </p:nvSpPr>
        <p:spPr>
          <a:xfrm>
            <a:off x="14721840" y="6675120"/>
            <a:ext cx="1371600" cy="914400"/>
          </a:xfrm>
          <a:prstGeom prst="rect">
            <a:avLst/>
          </a:prstGeom>
          <a:noFill/>
          <a:ln/>
        </p:spPr>
        <p:txBody>
          <a:bodyPr wrap="square" lIns="0" tIns="0" rIns="0" bIns="0" rtlCol="0" anchor="ctr"/>
          <a:lstStyle/>
          <a:p>
            <a:pPr marL="0" indent="0" algn="l">
              <a:buNone/>
            </a:pPr>
            <a:r>
              <a:rPr lang="en-US" sz="3200" b="1" dirty="0">
                <a:solidFill>
                  <a:srgbClr val="FFC72C"/>
                </a:solidFill>
                <a:latin typeface="Impact" pitchFamily="34" charset="0"/>
                <a:ea typeface="Impact" pitchFamily="34" charset="-122"/>
                <a:cs typeface="Impact" pitchFamily="34" charset="-120"/>
              </a:rPr>
              <a:t>02</a:t>
            </a:r>
            <a:endParaRPr lang="en-US" sz="3200" dirty="0"/>
          </a:p>
        </p:txBody>
      </p:sp>
      <p:sp>
        <p:nvSpPr>
          <p:cNvPr id="35" name="Text 33"/>
          <p:cNvSpPr/>
          <p:nvPr/>
        </p:nvSpPr>
        <p:spPr>
          <a:xfrm>
            <a:off x="16093440" y="6675120"/>
            <a:ext cx="12435840" cy="91440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Calibri" pitchFamily="34" charset="0"/>
                <a:ea typeface="Calibri" pitchFamily="34" charset="-122"/>
                <a:cs typeface="Calibri" pitchFamily="34" charset="-120"/>
              </a:rPr>
              <a:t>STORYBOARD / FLOW</a:t>
            </a:r>
            <a:endParaRPr lang="en-US" sz="4400" b="1" dirty="0"/>
          </a:p>
        </p:txBody>
      </p:sp>
      <p:sp>
        <p:nvSpPr>
          <p:cNvPr id="36" name="Shape 34"/>
          <p:cNvSpPr/>
          <p:nvPr/>
        </p:nvSpPr>
        <p:spPr>
          <a:xfrm>
            <a:off x="14584680" y="786384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37" name="Shape 35"/>
          <p:cNvSpPr/>
          <p:nvPr/>
        </p:nvSpPr>
        <p:spPr>
          <a:xfrm>
            <a:off x="14584680" y="7863840"/>
            <a:ext cx="914400" cy="685800"/>
          </a:xfrm>
          <a:prstGeom prst="rect">
            <a:avLst/>
          </a:prstGeom>
          <a:solidFill>
            <a:srgbClr val="1E5631"/>
          </a:solidFill>
          <a:ln/>
        </p:spPr>
        <p:txBody>
          <a:bodyPr/>
          <a:lstStyle/>
          <a:p>
            <a:endParaRPr lang="en-US" sz="3200"/>
          </a:p>
        </p:txBody>
      </p:sp>
      <p:sp>
        <p:nvSpPr>
          <p:cNvPr id="38" name="Text 36"/>
          <p:cNvSpPr/>
          <p:nvPr/>
        </p:nvSpPr>
        <p:spPr>
          <a:xfrm>
            <a:off x="14584680" y="7863840"/>
            <a:ext cx="914400" cy="685800"/>
          </a:xfrm>
          <a:prstGeom prst="rect">
            <a:avLst/>
          </a:prstGeom>
          <a:noFill/>
          <a:ln/>
        </p:spPr>
        <p:txBody>
          <a:bodyPr wrap="square" lIns="0" tIns="0" rIns="0" bIns="0" rtlCol="0" anchor="ctr"/>
          <a:lstStyle/>
          <a:p>
            <a:pPr marL="0" indent="0" algn="ctr">
              <a:buNone/>
            </a:pPr>
            <a:r>
              <a:rPr lang="en-US" sz="3200" b="1" dirty="0">
                <a:solidFill>
                  <a:srgbClr val="FFC72C"/>
                </a:solidFill>
                <a:latin typeface="Impact" pitchFamily="34" charset="0"/>
                <a:ea typeface="Impact" pitchFamily="34" charset="-122"/>
                <a:cs typeface="Impact" pitchFamily="34" charset="-120"/>
              </a:rPr>
              <a:t>1</a:t>
            </a:r>
            <a:endParaRPr lang="en-US" sz="3200" dirty="0"/>
          </a:p>
        </p:txBody>
      </p:sp>
      <p:sp>
        <p:nvSpPr>
          <p:cNvPr id="39" name="Text 37"/>
          <p:cNvSpPr/>
          <p:nvPr/>
        </p:nvSpPr>
        <p:spPr>
          <a:xfrm>
            <a:off x="14584680" y="832104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DROP STORYBOARD</a:t>
            </a:r>
            <a:endParaRPr lang="en-US" sz="3200" dirty="0"/>
          </a:p>
          <a:p>
            <a:pPr marL="0" indent="0" algn="ctr">
              <a:buNone/>
            </a:pPr>
            <a:r>
              <a:rPr lang="en-US" sz="3200" dirty="0">
                <a:solidFill>
                  <a:srgbClr val="9C988B"/>
                </a:solidFill>
                <a:latin typeface="Consolas" pitchFamily="34" charset="0"/>
                <a:ea typeface="Consolas" pitchFamily="34" charset="-122"/>
                <a:cs typeface="Consolas" pitchFamily="34" charset="-120"/>
              </a:rPr>
              <a:t>IMAGE / SKETCH HERE ]</a:t>
            </a:r>
            <a:endParaRPr lang="en-US" sz="3200" dirty="0"/>
          </a:p>
        </p:txBody>
      </p:sp>
      <p:sp>
        <p:nvSpPr>
          <p:cNvPr id="40" name="Text 38"/>
          <p:cNvSpPr/>
          <p:nvPr/>
        </p:nvSpPr>
        <p:spPr>
          <a:xfrm>
            <a:off x="14584680" y="11612880"/>
            <a:ext cx="6492240" cy="457200"/>
          </a:xfrm>
          <a:prstGeom prst="rect">
            <a:avLst/>
          </a:prstGeom>
          <a:noFill/>
          <a:ln/>
        </p:spPr>
        <p:txBody>
          <a:bodyPr wrap="square" lIns="0" tIns="0" rIns="0" bIns="0" rtlCol="0" anchor="ctr"/>
          <a:lstStyle/>
          <a:p>
            <a:pPr marL="0" indent="0" algn="ctr">
              <a:buNone/>
            </a:pPr>
            <a:endParaRPr lang="en-US" sz="3200" dirty="0"/>
          </a:p>
        </p:txBody>
      </p:sp>
      <p:sp>
        <p:nvSpPr>
          <p:cNvPr id="41" name="Shape 39"/>
          <p:cNvSpPr/>
          <p:nvPr/>
        </p:nvSpPr>
        <p:spPr>
          <a:xfrm>
            <a:off x="21442680" y="786384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42" name="Shape 40"/>
          <p:cNvSpPr/>
          <p:nvPr/>
        </p:nvSpPr>
        <p:spPr>
          <a:xfrm>
            <a:off x="21442680" y="7863840"/>
            <a:ext cx="914400" cy="685800"/>
          </a:xfrm>
          <a:prstGeom prst="rect">
            <a:avLst/>
          </a:prstGeom>
          <a:solidFill>
            <a:srgbClr val="1E5631"/>
          </a:solidFill>
          <a:ln/>
        </p:spPr>
        <p:txBody>
          <a:bodyPr/>
          <a:lstStyle/>
          <a:p>
            <a:endParaRPr lang="en-US" sz="3200"/>
          </a:p>
        </p:txBody>
      </p:sp>
      <p:sp>
        <p:nvSpPr>
          <p:cNvPr id="43" name="Text 41"/>
          <p:cNvSpPr/>
          <p:nvPr/>
        </p:nvSpPr>
        <p:spPr>
          <a:xfrm>
            <a:off x="21442680" y="7863840"/>
            <a:ext cx="914400" cy="685800"/>
          </a:xfrm>
          <a:prstGeom prst="rect">
            <a:avLst/>
          </a:prstGeom>
          <a:noFill/>
          <a:ln/>
        </p:spPr>
        <p:txBody>
          <a:bodyPr wrap="square" lIns="0" tIns="0" rIns="0" bIns="0" rtlCol="0" anchor="ctr"/>
          <a:lstStyle/>
          <a:p>
            <a:pPr marL="0" indent="0" algn="ctr">
              <a:buNone/>
            </a:pPr>
            <a:r>
              <a:rPr lang="en-US" sz="3200" b="1" dirty="0">
                <a:solidFill>
                  <a:srgbClr val="FFC72C"/>
                </a:solidFill>
                <a:latin typeface="Impact" pitchFamily="34" charset="0"/>
                <a:ea typeface="Impact" pitchFamily="34" charset="-122"/>
                <a:cs typeface="Impact" pitchFamily="34" charset="-120"/>
              </a:rPr>
              <a:t>2</a:t>
            </a:r>
            <a:endParaRPr lang="en-US" sz="3200" dirty="0"/>
          </a:p>
        </p:txBody>
      </p:sp>
      <p:sp>
        <p:nvSpPr>
          <p:cNvPr id="44" name="Text 42"/>
          <p:cNvSpPr/>
          <p:nvPr/>
        </p:nvSpPr>
        <p:spPr>
          <a:xfrm>
            <a:off x="21442680" y="832104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DROP STORYBOARD</a:t>
            </a:r>
            <a:endParaRPr lang="en-US" sz="3200" dirty="0"/>
          </a:p>
          <a:p>
            <a:pPr marL="0" indent="0" algn="ctr">
              <a:buNone/>
            </a:pPr>
            <a:r>
              <a:rPr lang="en-US" sz="3200" dirty="0">
                <a:solidFill>
                  <a:srgbClr val="9C988B"/>
                </a:solidFill>
                <a:latin typeface="Consolas" pitchFamily="34" charset="0"/>
                <a:ea typeface="Consolas" pitchFamily="34" charset="-122"/>
                <a:cs typeface="Consolas" pitchFamily="34" charset="-120"/>
              </a:rPr>
              <a:t>IMAGE / SKETCH HERE ]</a:t>
            </a:r>
            <a:endParaRPr lang="en-US" sz="3200" dirty="0"/>
          </a:p>
        </p:txBody>
      </p:sp>
      <p:sp>
        <p:nvSpPr>
          <p:cNvPr id="45" name="Text 43"/>
          <p:cNvSpPr/>
          <p:nvPr/>
        </p:nvSpPr>
        <p:spPr>
          <a:xfrm>
            <a:off x="21442680" y="11612880"/>
            <a:ext cx="6492240" cy="457200"/>
          </a:xfrm>
          <a:prstGeom prst="rect">
            <a:avLst/>
          </a:prstGeom>
          <a:noFill/>
          <a:ln/>
        </p:spPr>
        <p:txBody>
          <a:bodyPr wrap="square" lIns="0" tIns="0" rIns="0" bIns="0" rtlCol="0" anchor="ctr"/>
          <a:lstStyle/>
          <a:p>
            <a:pPr marL="0" indent="0" algn="ctr">
              <a:buNone/>
            </a:pPr>
            <a:endParaRPr lang="en-US" sz="3200" dirty="0"/>
          </a:p>
        </p:txBody>
      </p:sp>
      <p:sp>
        <p:nvSpPr>
          <p:cNvPr id="46" name="Shape 44"/>
          <p:cNvSpPr/>
          <p:nvPr/>
        </p:nvSpPr>
        <p:spPr>
          <a:xfrm>
            <a:off x="14584680" y="1261872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47" name="Shape 45"/>
          <p:cNvSpPr/>
          <p:nvPr/>
        </p:nvSpPr>
        <p:spPr>
          <a:xfrm>
            <a:off x="14584680" y="12618720"/>
            <a:ext cx="914400" cy="685800"/>
          </a:xfrm>
          <a:prstGeom prst="rect">
            <a:avLst/>
          </a:prstGeom>
          <a:solidFill>
            <a:srgbClr val="1E5631"/>
          </a:solidFill>
          <a:ln/>
        </p:spPr>
        <p:txBody>
          <a:bodyPr/>
          <a:lstStyle/>
          <a:p>
            <a:endParaRPr lang="en-US" sz="3200"/>
          </a:p>
        </p:txBody>
      </p:sp>
      <p:sp>
        <p:nvSpPr>
          <p:cNvPr id="48" name="Text 46"/>
          <p:cNvSpPr/>
          <p:nvPr/>
        </p:nvSpPr>
        <p:spPr>
          <a:xfrm>
            <a:off x="14584680" y="12618720"/>
            <a:ext cx="914400" cy="685800"/>
          </a:xfrm>
          <a:prstGeom prst="rect">
            <a:avLst/>
          </a:prstGeom>
          <a:noFill/>
          <a:ln/>
        </p:spPr>
        <p:txBody>
          <a:bodyPr wrap="square" lIns="0" tIns="0" rIns="0" bIns="0" rtlCol="0" anchor="ctr"/>
          <a:lstStyle/>
          <a:p>
            <a:pPr marL="0" indent="0" algn="ctr">
              <a:buNone/>
            </a:pPr>
            <a:r>
              <a:rPr lang="en-US" sz="3200" b="1" dirty="0">
                <a:solidFill>
                  <a:srgbClr val="FFC72C"/>
                </a:solidFill>
                <a:latin typeface="Impact" pitchFamily="34" charset="0"/>
                <a:ea typeface="Impact" pitchFamily="34" charset="-122"/>
                <a:cs typeface="Impact" pitchFamily="34" charset="-120"/>
              </a:rPr>
              <a:t>3</a:t>
            </a:r>
            <a:endParaRPr lang="en-US" sz="3200" dirty="0"/>
          </a:p>
        </p:txBody>
      </p:sp>
      <p:sp>
        <p:nvSpPr>
          <p:cNvPr id="49" name="Text 47"/>
          <p:cNvSpPr/>
          <p:nvPr/>
        </p:nvSpPr>
        <p:spPr>
          <a:xfrm>
            <a:off x="14584680" y="1307592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DROP STORYBOARD</a:t>
            </a:r>
            <a:endParaRPr lang="en-US" sz="3200" dirty="0"/>
          </a:p>
          <a:p>
            <a:pPr marL="0" indent="0" algn="ctr">
              <a:buNone/>
            </a:pPr>
            <a:r>
              <a:rPr lang="en-US" sz="3200" dirty="0">
                <a:solidFill>
                  <a:srgbClr val="9C988B"/>
                </a:solidFill>
                <a:latin typeface="Consolas" pitchFamily="34" charset="0"/>
                <a:ea typeface="Consolas" pitchFamily="34" charset="-122"/>
                <a:cs typeface="Consolas" pitchFamily="34" charset="-120"/>
              </a:rPr>
              <a:t>IMAGE / SKETCH HERE ]</a:t>
            </a:r>
            <a:endParaRPr lang="en-US" sz="3200" dirty="0"/>
          </a:p>
        </p:txBody>
      </p:sp>
      <p:sp>
        <p:nvSpPr>
          <p:cNvPr id="50" name="Text 48"/>
          <p:cNvSpPr/>
          <p:nvPr/>
        </p:nvSpPr>
        <p:spPr>
          <a:xfrm>
            <a:off x="14584680" y="16367760"/>
            <a:ext cx="6492240" cy="457200"/>
          </a:xfrm>
          <a:prstGeom prst="rect">
            <a:avLst/>
          </a:prstGeom>
          <a:noFill/>
          <a:ln/>
        </p:spPr>
        <p:txBody>
          <a:bodyPr wrap="square" lIns="0" tIns="0" rIns="0" bIns="0" rtlCol="0" anchor="ctr"/>
          <a:lstStyle/>
          <a:p>
            <a:pPr marL="0" indent="0" algn="ctr">
              <a:buNone/>
            </a:pPr>
            <a:endParaRPr lang="en-US" sz="3200" dirty="0"/>
          </a:p>
        </p:txBody>
      </p:sp>
      <p:sp>
        <p:nvSpPr>
          <p:cNvPr id="51" name="Shape 49"/>
          <p:cNvSpPr/>
          <p:nvPr/>
        </p:nvSpPr>
        <p:spPr>
          <a:xfrm>
            <a:off x="21442680" y="1261872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52" name="Shape 50"/>
          <p:cNvSpPr/>
          <p:nvPr/>
        </p:nvSpPr>
        <p:spPr>
          <a:xfrm>
            <a:off x="21442680" y="12618720"/>
            <a:ext cx="914400" cy="685800"/>
          </a:xfrm>
          <a:prstGeom prst="rect">
            <a:avLst/>
          </a:prstGeom>
          <a:solidFill>
            <a:srgbClr val="1E5631"/>
          </a:solidFill>
          <a:ln/>
        </p:spPr>
        <p:txBody>
          <a:bodyPr/>
          <a:lstStyle/>
          <a:p>
            <a:endParaRPr lang="en-US" sz="3200"/>
          </a:p>
        </p:txBody>
      </p:sp>
      <p:sp>
        <p:nvSpPr>
          <p:cNvPr id="53" name="Text 51"/>
          <p:cNvSpPr/>
          <p:nvPr/>
        </p:nvSpPr>
        <p:spPr>
          <a:xfrm>
            <a:off x="21442680" y="12618720"/>
            <a:ext cx="914400" cy="685800"/>
          </a:xfrm>
          <a:prstGeom prst="rect">
            <a:avLst/>
          </a:prstGeom>
          <a:noFill/>
          <a:ln/>
        </p:spPr>
        <p:txBody>
          <a:bodyPr wrap="square" lIns="0" tIns="0" rIns="0" bIns="0" rtlCol="0" anchor="ctr"/>
          <a:lstStyle/>
          <a:p>
            <a:pPr marL="0" indent="0" algn="ctr">
              <a:buNone/>
            </a:pPr>
            <a:r>
              <a:rPr lang="en-US" sz="3200" b="1" dirty="0">
                <a:solidFill>
                  <a:srgbClr val="FFC72C"/>
                </a:solidFill>
                <a:latin typeface="Impact" pitchFamily="34" charset="0"/>
                <a:ea typeface="Impact" pitchFamily="34" charset="-122"/>
                <a:cs typeface="Impact" pitchFamily="34" charset="-120"/>
              </a:rPr>
              <a:t>4</a:t>
            </a:r>
            <a:endParaRPr lang="en-US" sz="3200" dirty="0"/>
          </a:p>
        </p:txBody>
      </p:sp>
      <p:sp>
        <p:nvSpPr>
          <p:cNvPr id="54" name="Text 52"/>
          <p:cNvSpPr/>
          <p:nvPr/>
        </p:nvSpPr>
        <p:spPr>
          <a:xfrm>
            <a:off x="21442680" y="1307592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DROP STORYBOARD</a:t>
            </a:r>
            <a:endParaRPr lang="en-US" sz="3200" dirty="0"/>
          </a:p>
          <a:p>
            <a:pPr marL="0" indent="0" algn="ctr">
              <a:buNone/>
            </a:pPr>
            <a:r>
              <a:rPr lang="en-US" sz="3200" dirty="0">
                <a:solidFill>
                  <a:srgbClr val="9C988B"/>
                </a:solidFill>
                <a:latin typeface="Consolas" pitchFamily="34" charset="0"/>
                <a:ea typeface="Consolas" pitchFamily="34" charset="-122"/>
                <a:cs typeface="Consolas" pitchFamily="34" charset="-120"/>
              </a:rPr>
              <a:t>IMAGE / SKETCH HERE ]</a:t>
            </a:r>
            <a:endParaRPr lang="en-US" sz="3200" dirty="0"/>
          </a:p>
        </p:txBody>
      </p:sp>
      <p:sp>
        <p:nvSpPr>
          <p:cNvPr id="55" name="Text 53"/>
          <p:cNvSpPr/>
          <p:nvPr/>
        </p:nvSpPr>
        <p:spPr>
          <a:xfrm>
            <a:off x="21442680" y="16367760"/>
            <a:ext cx="6492240" cy="457200"/>
          </a:xfrm>
          <a:prstGeom prst="rect">
            <a:avLst/>
          </a:prstGeom>
          <a:noFill/>
          <a:ln/>
        </p:spPr>
        <p:txBody>
          <a:bodyPr wrap="square" lIns="0" tIns="0" rIns="0" bIns="0" rtlCol="0" anchor="ctr"/>
          <a:lstStyle/>
          <a:p>
            <a:pPr marL="0" indent="0" algn="ctr">
              <a:buNone/>
            </a:pPr>
            <a:endParaRPr lang="en-US" sz="3200" dirty="0"/>
          </a:p>
        </p:txBody>
      </p:sp>
      <p:sp>
        <p:nvSpPr>
          <p:cNvPr id="56" name="Shape 54"/>
          <p:cNvSpPr/>
          <p:nvPr/>
        </p:nvSpPr>
        <p:spPr>
          <a:xfrm>
            <a:off x="14584680" y="1737360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57" name="Shape 55"/>
          <p:cNvSpPr/>
          <p:nvPr/>
        </p:nvSpPr>
        <p:spPr>
          <a:xfrm>
            <a:off x="14584680" y="17373600"/>
            <a:ext cx="914400" cy="685800"/>
          </a:xfrm>
          <a:prstGeom prst="rect">
            <a:avLst/>
          </a:prstGeom>
          <a:solidFill>
            <a:srgbClr val="1E5631"/>
          </a:solidFill>
          <a:ln/>
        </p:spPr>
        <p:txBody>
          <a:bodyPr/>
          <a:lstStyle/>
          <a:p>
            <a:endParaRPr lang="en-US" sz="3200"/>
          </a:p>
        </p:txBody>
      </p:sp>
      <p:sp>
        <p:nvSpPr>
          <p:cNvPr id="58" name="Text 56"/>
          <p:cNvSpPr/>
          <p:nvPr/>
        </p:nvSpPr>
        <p:spPr>
          <a:xfrm>
            <a:off x="14584680" y="17373600"/>
            <a:ext cx="914400" cy="685800"/>
          </a:xfrm>
          <a:prstGeom prst="rect">
            <a:avLst/>
          </a:prstGeom>
          <a:noFill/>
          <a:ln/>
        </p:spPr>
        <p:txBody>
          <a:bodyPr wrap="square" lIns="0" tIns="0" rIns="0" bIns="0" rtlCol="0" anchor="ctr"/>
          <a:lstStyle/>
          <a:p>
            <a:pPr marL="0" indent="0" algn="ctr">
              <a:buNone/>
            </a:pPr>
            <a:r>
              <a:rPr lang="en-US" sz="3200" b="1" dirty="0">
                <a:solidFill>
                  <a:srgbClr val="FFC72C"/>
                </a:solidFill>
                <a:latin typeface="Impact" pitchFamily="34" charset="0"/>
                <a:ea typeface="Impact" pitchFamily="34" charset="-122"/>
                <a:cs typeface="Impact" pitchFamily="34" charset="-120"/>
              </a:rPr>
              <a:t>5</a:t>
            </a:r>
            <a:endParaRPr lang="en-US" sz="3200" dirty="0"/>
          </a:p>
        </p:txBody>
      </p:sp>
      <p:sp>
        <p:nvSpPr>
          <p:cNvPr id="59" name="Text 57"/>
          <p:cNvSpPr/>
          <p:nvPr/>
        </p:nvSpPr>
        <p:spPr>
          <a:xfrm>
            <a:off x="14584680" y="1783080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DROP STORYBOARD</a:t>
            </a:r>
            <a:endParaRPr lang="en-US" sz="3200" dirty="0"/>
          </a:p>
          <a:p>
            <a:pPr marL="0" indent="0" algn="ctr">
              <a:buNone/>
            </a:pPr>
            <a:r>
              <a:rPr lang="en-US" sz="3200" dirty="0">
                <a:solidFill>
                  <a:srgbClr val="9C988B"/>
                </a:solidFill>
                <a:latin typeface="Consolas" pitchFamily="34" charset="0"/>
                <a:ea typeface="Consolas" pitchFamily="34" charset="-122"/>
                <a:cs typeface="Consolas" pitchFamily="34" charset="-120"/>
              </a:rPr>
              <a:t>IMAGE / SKETCH HERE ]</a:t>
            </a:r>
            <a:endParaRPr lang="en-US" sz="3200" dirty="0"/>
          </a:p>
        </p:txBody>
      </p:sp>
      <p:sp>
        <p:nvSpPr>
          <p:cNvPr id="60" name="Text 58"/>
          <p:cNvSpPr/>
          <p:nvPr/>
        </p:nvSpPr>
        <p:spPr>
          <a:xfrm>
            <a:off x="14584680" y="21122640"/>
            <a:ext cx="6492240" cy="457200"/>
          </a:xfrm>
          <a:prstGeom prst="rect">
            <a:avLst/>
          </a:prstGeom>
          <a:noFill/>
          <a:ln/>
        </p:spPr>
        <p:txBody>
          <a:bodyPr wrap="square" lIns="0" tIns="0" rIns="0" bIns="0" rtlCol="0" anchor="ctr"/>
          <a:lstStyle/>
          <a:p>
            <a:pPr marL="0" indent="0" algn="ctr">
              <a:buNone/>
            </a:pPr>
            <a:endParaRPr lang="en-US" sz="3200" dirty="0"/>
          </a:p>
        </p:txBody>
      </p:sp>
      <p:sp>
        <p:nvSpPr>
          <p:cNvPr id="61" name="Shape 59"/>
          <p:cNvSpPr/>
          <p:nvPr/>
        </p:nvSpPr>
        <p:spPr>
          <a:xfrm>
            <a:off x="21442680" y="1737360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62" name="Shape 60"/>
          <p:cNvSpPr/>
          <p:nvPr/>
        </p:nvSpPr>
        <p:spPr>
          <a:xfrm>
            <a:off x="21442680" y="17373600"/>
            <a:ext cx="914400" cy="685800"/>
          </a:xfrm>
          <a:prstGeom prst="rect">
            <a:avLst/>
          </a:prstGeom>
          <a:solidFill>
            <a:srgbClr val="1E5631"/>
          </a:solidFill>
          <a:ln/>
        </p:spPr>
        <p:txBody>
          <a:bodyPr/>
          <a:lstStyle/>
          <a:p>
            <a:endParaRPr lang="en-US" sz="3200"/>
          </a:p>
        </p:txBody>
      </p:sp>
      <p:sp>
        <p:nvSpPr>
          <p:cNvPr id="63" name="Text 61"/>
          <p:cNvSpPr/>
          <p:nvPr/>
        </p:nvSpPr>
        <p:spPr>
          <a:xfrm>
            <a:off x="21442680" y="17373600"/>
            <a:ext cx="914400" cy="685800"/>
          </a:xfrm>
          <a:prstGeom prst="rect">
            <a:avLst/>
          </a:prstGeom>
          <a:noFill/>
          <a:ln/>
        </p:spPr>
        <p:txBody>
          <a:bodyPr wrap="square" lIns="0" tIns="0" rIns="0" bIns="0" rtlCol="0" anchor="ctr"/>
          <a:lstStyle/>
          <a:p>
            <a:pPr marL="0" indent="0" algn="ctr">
              <a:buNone/>
            </a:pPr>
            <a:r>
              <a:rPr lang="en-US" sz="3200" b="1" dirty="0">
                <a:solidFill>
                  <a:srgbClr val="FFC72C"/>
                </a:solidFill>
                <a:latin typeface="Impact" pitchFamily="34" charset="0"/>
                <a:ea typeface="Impact" pitchFamily="34" charset="-122"/>
                <a:cs typeface="Impact" pitchFamily="34" charset="-120"/>
              </a:rPr>
              <a:t>6</a:t>
            </a:r>
            <a:endParaRPr lang="en-US" sz="3200" dirty="0"/>
          </a:p>
        </p:txBody>
      </p:sp>
      <p:sp>
        <p:nvSpPr>
          <p:cNvPr id="64" name="Text 62"/>
          <p:cNvSpPr/>
          <p:nvPr/>
        </p:nvSpPr>
        <p:spPr>
          <a:xfrm>
            <a:off x="21442680" y="1783080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DROP STORYBOARD</a:t>
            </a:r>
            <a:endParaRPr lang="en-US" sz="3200" dirty="0"/>
          </a:p>
          <a:p>
            <a:pPr marL="0" indent="0" algn="ctr">
              <a:buNone/>
            </a:pPr>
            <a:r>
              <a:rPr lang="en-US" sz="3200" dirty="0">
                <a:solidFill>
                  <a:srgbClr val="9C988B"/>
                </a:solidFill>
                <a:latin typeface="Consolas" pitchFamily="34" charset="0"/>
                <a:ea typeface="Consolas" pitchFamily="34" charset="-122"/>
                <a:cs typeface="Consolas" pitchFamily="34" charset="-120"/>
              </a:rPr>
              <a:t>IMAGE / SKETCH HERE ]</a:t>
            </a:r>
            <a:endParaRPr lang="en-US" sz="3200" dirty="0"/>
          </a:p>
        </p:txBody>
      </p:sp>
      <p:sp>
        <p:nvSpPr>
          <p:cNvPr id="65" name="Text 63"/>
          <p:cNvSpPr/>
          <p:nvPr/>
        </p:nvSpPr>
        <p:spPr>
          <a:xfrm>
            <a:off x="21442680" y="21122640"/>
            <a:ext cx="6492240" cy="457200"/>
          </a:xfrm>
          <a:prstGeom prst="rect">
            <a:avLst/>
          </a:prstGeom>
          <a:noFill/>
          <a:ln/>
        </p:spPr>
        <p:txBody>
          <a:bodyPr wrap="square" lIns="0" tIns="0" rIns="0" bIns="0" rtlCol="0" anchor="ctr"/>
          <a:lstStyle/>
          <a:p>
            <a:pPr marL="0" indent="0" algn="ctr">
              <a:buNone/>
            </a:pPr>
            <a:endParaRPr lang="en-US" sz="3200" dirty="0"/>
          </a:p>
        </p:txBody>
      </p:sp>
      <p:sp>
        <p:nvSpPr>
          <p:cNvPr id="66" name="Shape 64"/>
          <p:cNvSpPr/>
          <p:nvPr/>
        </p:nvSpPr>
        <p:spPr>
          <a:xfrm>
            <a:off x="29169360" y="6675120"/>
            <a:ext cx="14081760" cy="914400"/>
          </a:xfrm>
          <a:prstGeom prst="rect">
            <a:avLst/>
          </a:prstGeom>
          <a:solidFill>
            <a:srgbClr val="1E5631"/>
          </a:solidFill>
          <a:ln/>
        </p:spPr>
        <p:txBody>
          <a:bodyPr/>
          <a:lstStyle/>
          <a:p>
            <a:endParaRPr lang="en-US" sz="3200"/>
          </a:p>
        </p:txBody>
      </p:sp>
      <p:sp>
        <p:nvSpPr>
          <p:cNvPr id="67" name="Text 65"/>
          <p:cNvSpPr/>
          <p:nvPr/>
        </p:nvSpPr>
        <p:spPr>
          <a:xfrm>
            <a:off x="29443680" y="6675120"/>
            <a:ext cx="1371600" cy="914400"/>
          </a:xfrm>
          <a:prstGeom prst="rect">
            <a:avLst/>
          </a:prstGeom>
          <a:noFill/>
          <a:ln/>
        </p:spPr>
        <p:txBody>
          <a:bodyPr wrap="square" lIns="0" tIns="0" rIns="0" bIns="0" rtlCol="0" anchor="ctr"/>
          <a:lstStyle/>
          <a:p>
            <a:pPr marL="0" indent="0" algn="l">
              <a:buNone/>
            </a:pPr>
            <a:r>
              <a:rPr lang="en-US" sz="3200" b="1" dirty="0">
                <a:solidFill>
                  <a:srgbClr val="FFC72C"/>
                </a:solidFill>
                <a:latin typeface="Impact" pitchFamily="34" charset="0"/>
                <a:ea typeface="Impact" pitchFamily="34" charset="-122"/>
                <a:cs typeface="Impact" pitchFamily="34" charset="-120"/>
              </a:rPr>
              <a:t>03</a:t>
            </a:r>
            <a:endParaRPr lang="en-US" sz="3200" dirty="0"/>
          </a:p>
        </p:txBody>
      </p:sp>
      <p:sp>
        <p:nvSpPr>
          <p:cNvPr id="68" name="Text 66"/>
          <p:cNvSpPr/>
          <p:nvPr/>
        </p:nvSpPr>
        <p:spPr>
          <a:xfrm>
            <a:off x="30815280" y="6675120"/>
            <a:ext cx="12252960" cy="91440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Calibri" pitchFamily="34" charset="0"/>
                <a:ea typeface="Calibri" pitchFamily="34" charset="-122"/>
                <a:cs typeface="Calibri" pitchFamily="34" charset="-120"/>
              </a:rPr>
              <a:t>KEY ART &amp; PILLARS</a:t>
            </a:r>
            <a:endParaRPr lang="en-US" sz="4400" b="1" dirty="0"/>
          </a:p>
        </p:txBody>
      </p:sp>
      <p:sp>
        <p:nvSpPr>
          <p:cNvPr id="69" name="Shape 67"/>
          <p:cNvSpPr/>
          <p:nvPr/>
        </p:nvSpPr>
        <p:spPr>
          <a:xfrm>
            <a:off x="29352240" y="7863840"/>
            <a:ext cx="13716000" cy="6858000"/>
          </a:xfrm>
          <a:prstGeom prst="rect">
            <a:avLst/>
          </a:prstGeom>
          <a:solidFill>
            <a:srgbClr val="F5F5F2"/>
          </a:solidFill>
          <a:ln w="25400">
            <a:solidFill>
              <a:srgbClr val="1E5631"/>
            </a:solidFill>
            <a:prstDash val="solid"/>
          </a:ln>
        </p:spPr>
        <p:txBody>
          <a:bodyPr/>
          <a:lstStyle/>
          <a:p>
            <a:endParaRPr lang="en-US" sz="3200"/>
          </a:p>
        </p:txBody>
      </p:sp>
      <p:sp>
        <p:nvSpPr>
          <p:cNvPr id="70" name="Text 68"/>
          <p:cNvSpPr/>
          <p:nvPr/>
        </p:nvSpPr>
        <p:spPr>
          <a:xfrm>
            <a:off x="29352240" y="7863840"/>
            <a:ext cx="13716000" cy="6858000"/>
          </a:xfrm>
          <a:prstGeom prst="rect">
            <a:avLst/>
          </a:prstGeom>
          <a:noFill/>
          <a:ln/>
        </p:spPr>
        <p:txBody>
          <a:bodyPr wrap="square" lIns="0" tIns="0" rIns="0" bIns="0" rtlCol="0" anchor="ctr"/>
          <a:lstStyle/>
          <a:p>
            <a:pPr marL="0" indent="0" algn="ctr">
              <a:buNone/>
            </a:pPr>
            <a:r>
              <a:rPr lang="en-US" sz="3200" b="1" kern="0" spc="300" dirty="0">
                <a:solidFill>
                  <a:srgbClr val="9C988B"/>
                </a:solidFill>
                <a:latin typeface="Consolas" pitchFamily="34" charset="0"/>
                <a:ea typeface="Consolas" pitchFamily="34" charset="-122"/>
                <a:cs typeface="Consolas" pitchFamily="34" charset="-120"/>
              </a:rPr>
              <a:t>[ HERO SCREENSHOT  /  KEY ART ]</a:t>
            </a:r>
            <a:endParaRPr lang="en-US" sz="3200" dirty="0"/>
          </a:p>
        </p:txBody>
      </p:sp>
      <p:sp>
        <p:nvSpPr>
          <p:cNvPr id="71" name="Shape 69"/>
          <p:cNvSpPr/>
          <p:nvPr/>
        </p:nvSpPr>
        <p:spPr>
          <a:xfrm>
            <a:off x="29352240" y="14996160"/>
            <a:ext cx="6675120" cy="4023360"/>
          </a:xfrm>
          <a:prstGeom prst="rect">
            <a:avLst/>
          </a:prstGeom>
          <a:solidFill>
            <a:srgbClr val="F5F5F2"/>
          </a:solidFill>
          <a:ln w="25400">
            <a:solidFill>
              <a:srgbClr val="1E5631"/>
            </a:solidFill>
            <a:prstDash val="solid"/>
          </a:ln>
        </p:spPr>
        <p:txBody>
          <a:bodyPr/>
          <a:lstStyle/>
          <a:p>
            <a:endParaRPr lang="en-US" sz="3200"/>
          </a:p>
        </p:txBody>
      </p:sp>
      <p:sp>
        <p:nvSpPr>
          <p:cNvPr id="72" name="Text 70"/>
          <p:cNvSpPr/>
          <p:nvPr/>
        </p:nvSpPr>
        <p:spPr>
          <a:xfrm>
            <a:off x="29352240" y="14996160"/>
            <a:ext cx="6675120" cy="402336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GAMEPLAY GIF / SHOT ]</a:t>
            </a:r>
            <a:endParaRPr lang="en-US" sz="3200" dirty="0"/>
          </a:p>
        </p:txBody>
      </p:sp>
      <p:sp>
        <p:nvSpPr>
          <p:cNvPr id="73" name="Shape 71"/>
          <p:cNvSpPr/>
          <p:nvPr/>
        </p:nvSpPr>
        <p:spPr>
          <a:xfrm>
            <a:off x="36393120" y="14996160"/>
            <a:ext cx="6675120" cy="4023360"/>
          </a:xfrm>
          <a:prstGeom prst="rect">
            <a:avLst/>
          </a:prstGeom>
          <a:solidFill>
            <a:srgbClr val="F5F5F2"/>
          </a:solidFill>
          <a:ln w="25400">
            <a:solidFill>
              <a:srgbClr val="1E5631"/>
            </a:solidFill>
            <a:prstDash val="solid"/>
          </a:ln>
        </p:spPr>
        <p:txBody>
          <a:bodyPr/>
          <a:lstStyle/>
          <a:p>
            <a:endParaRPr lang="en-US" sz="3200"/>
          </a:p>
        </p:txBody>
      </p:sp>
      <p:sp>
        <p:nvSpPr>
          <p:cNvPr id="74" name="Text 72"/>
          <p:cNvSpPr/>
          <p:nvPr/>
        </p:nvSpPr>
        <p:spPr>
          <a:xfrm>
            <a:off x="36393120" y="14996160"/>
            <a:ext cx="6675120" cy="402336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ea typeface="Consolas" pitchFamily="34" charset="-122"/>
                <a:cs typeface="Consolas" pitchFamily="34" charset="-120"/>
              </a:rPr>
              <a:t>[ UI / HUD MOCKUP ]</a:t>
            </a:r>
            <a:endParaRPr lang="en-US" sz="3200" dirty="0"/>
          </a:p>
        </p:txBody>
      </p:sp>
      <p:sp>
        <p:nvSpPr>
          <p:cNvPr id="75" name="Text 73"/>
          <p:cNvSpPr/>
          <p:nvPr/>
        </p:nvSpPr>
        <p:spPr>
          <a:xfrm>
            <a:off x="29352240" y="19293840"/>
            <a:ext cx="13716000" cy="548640"/>
          </a:xfrm>
          <a:prstGeom prst="rect">
            <a:avLst/>
          </a:prstGeom>
          <a:noFill/>
          <a:ln/>
        </p:spPr>
        <p:txBody>
          <a:bodyPr wrap="square" lIns="0" tIns="0" rIns="0" bIns="0" rtlCol="0" anchor="ctr"/>
          <a:lstStyle/>
          <a:p>
            <a:pPr marL="0" indent="0">
              <a:buNone/>
            </a:pPr>
            <a:r>
              <a:rPr lang="en-US" sz="3200" b="1" kern="0" spc="500" dirty="0">
                <a:solidFill>
                  <a:srgbClr val="1E5631"/>
                </a:solidFill>
                <a:latin typeface="Calibri" pitchFamily="34" charset="0"/>
                <a:ea typeface="Calibri" pitchFamily="34" charset="-122"/>
                <a:cs typeface="Calibri" pitchFamily="34" charset="-120"/>
              </a:rPr>
              <a:t>DESIGN PILLARS</a:t>
            </a:r>
            <a:endParaRPr lang="en-US" sz="3200" dirty="0"/>
          </a:p>
        </p:txBody>
      </p:sp>
      <p:sp>
        <p:nvSpPr>
          <p:cNvPr id="76" name="Shape 74"/>
          <p:cNvSpPr/>
          <p:nvPr/>
        </p:nvSpPr>
        <p:spPr>
          <a:xfrm>
            <a:off x="29443680" y="20144232"/>
            <a:ext cx="292608" cy="292608"/>
          </a:xfrm>
          <a:prstGeom prst="ellipse">
            <a:avLst/>
          </a:prstGeom>
          <a:solidFill>
            <a:srgbClr val="FFC72C"/>
          </a:solidFill>
          <a:ln/>
        </p:spPr>
        <p:txBody>
          <a:bodyPr/>
          <a:lstStyle/>
          <a:p>
            <a:endParaRPr lang="en-US" sz="3200"/>
          </a:p>
        </p:txBody>
      </p:sp>
      <p:sp>
        <p:nvSpPr>
          <p:cNvPr id="77" name="Text 75"/>
          <p:cNvSpPr/>
          <p:nvPr/>
        </p:nvSpPr>
        <p:spPr>
          <a:xfrm>
            <a:off x="29900880" y="19979640"/>
            <a:ext cx="13167360" cy="594360"/>
          </a:xfrm>
          <a:prstGeom prst="rect">
            <a:avLst/>
          </a:prstGeom>
          <a:noFill/>
          <a:ln/>
        </p:spPr>
        <p:txBody>
          <a:bodyPr wrap="square" lIns="0" tIns="0" rIns="0" bIns="0" rtlCol="0" anchor="ctr"/>
          <a:lstStyle/>
          <a:p>
            <a:r>
              <a:rPr lang="en-US" sz="3200" dirty="0"/>
              <a:t>Adaptive combat pressure.</a:t>
            </a:r>
          </a:p>
        </p:txBody>
      </p:sp>
      <p:sp>
        <p:nvSpPr>
          <p:cNvPr id="78" name="Shape 76"/>
          <p:cNvSpPr/>
          <p:nvPr/>
        </p:nvSpPr>
        <p:spPr>
          <a:xfrm>
            <a:off x="29443680" y="20830032"/>
            <a:ext cx="292608" cy="292608"/>
          </a:xfrm>
          <a:prstGeom prst="ellipse">
            <a:avLst/>
          </a:prstGeom>
          <a:solidFill>
            <a:srgbClr val="FFC72C"/>
          </a:solidFill>
          <a:ln/>
        </p:spPr>
        <p:txBody>
          <a:bodyPr/>
          <a:lstStyle/>
          <a:p>
            <a:endParaRPr lang="en-US" sz="3200"/>
          </a:p>
        </p:txBody>
      </p:sp>
      <p:sp>
        <p:nvSpPr>
          <p:cNvPr id="79" name="Text 77"/>
          <p:cNvSpPr/>
          <p:nvPr/>
        </p:nvSpPr>
        <p:spPr>
          <a:xfrm>
            <a:off x="29900880" y="20665440"/>
            <a:ext cx="13167360" cy="594360"/>
          </a:xfrm>
          <a:prstGeom prst="rect">
            <a:avLst/>
          </a:prstGeom>
          <a:noFill/>
          <a:ln/>
        </p:spPr>
        <p:txBody>
          <a:bodyPr wrap="square" lIns="0" tIns="0" rIns="0" bIns="0" rtlCol="0" anchor="ctr"/>
          <a:lstStyle/>
          <a:p>
            <a:r>
              <a:rPr lang="en-US" sz="3200"/>
              <a:t>Paranoia and tension.</a:t>
            </a:r>
            <a:endParaRPr lang="en-US" sz="3200" dirty="0"/>
          </a:p>
        </p:txBody>
      </p:sp>
      <p:sp>
        <p:nvSpPr>
          <p:cNvPr id="80" name="Shape 78"/>
          <p:cNvSpPr/>
          <p:nvPr/>
        </p:nvSpPr>
        <p:spPr>
          <a:xfrm>
            <a:off x="29443680" y="21515832"/>
            <a:ext cx="292608" cy="292608"/>
          </a:xfrm>
          <a:prstGeom prst="ellipse">
            <a:avLst/>
          </a:prstGeom>
          <a:solidFill>
            <a:srgbClr val="FFC72C"/>
          </a:solidFill>
          <a:ln/>
        </p:spPr>
        <p:txBody>
          <a:bodyPr/>
          <a:lstStyle/>
          <a:p>
            <a:endParaRPr lang="en-US" sz="3200"/>
          </a:p>
        </p:txBody>
      </p:sp>
      <p:sp>
        <p:nvSpPr>
          <p:cNvPr id="81" name="Text 79"/>
          <p:cNvSpPr/>
          <p:nvPr/>
        </p:nvSpPr>
        <p:spPr>
          <a:xfrm>
            <a:off x="29900880" y="21351240"/>
            <a:ext cx="13167360" cy="594360"/>
          </a:xfrm>
          <a:prstGeom prst="rect">
            <a:avLst/>
          </a:prstGeom>
          <a:noFill/>
          <a:ln/>
        </p:spPr>
        <p:txBody>
          <a:bodyPr wrap="square" lIns="0" tIns="0" rIns="0" bIns="0" rtlCol="0" anchor="ctr"/>
          <a:lstStyle/>
          <a:p>
            <a:r>
              <a:rPr lang="en-US" sz="3200" dirty="0"/>
              <a:t>Dynamic sanity-driven visual and audio effects.</a:t>
            </a:r>
          </a:p>
        </p:txBody>
      </p:sp>
      <p:sp>
        <p:nvSpPr>
          <p:cNvPr id="82" name="Shape 80"/>
          <p:cNvSpPr/>
          <p:nvPr/>
        </p:nvSpPr>
        <p:spPr>
          <a:xfrm>
            <a:off x="640080" y="22311360"/>
            <a:ext cx="27980640" cy="914400"/>
          </a:xfrm>
          <a:prstGeom prst="rect">
            <a:avLst/>
          </a:prstGeom>
          <a:solidFill>
            <a:srgbClr val="1E5631"/>
          </a:solidFill>
          <a:ln/>
        </p:spPr>
        <p:txBody>
          <a:bodyPr/>
          <a:lstStyle/>
          <a:p>
            <a:endParaRPr lang="en-US" sz="3200"/>
          </a:p>
        </p:txBody>
      </p:sp>
      <p:sp>
        <p:nvSpPr>
          <p:cNvPr id="83" name="Text 81"/>
          <p:cNvSpPr/>
          <p:nvPr/>
        </p:nvSpPr>
        <p:spPr>
          <a:xfrm>
            <a:off x="914400" y="22311360"/>
            <a:ext cx="1371600" cy="914400"/>
          </a:xfrm>
          <a:prstGeom prst="rect">
            <a:avLst/>
          </a:prstGeom>
          <a:noFill/>
          <a:ln/>
        </p:spPr>
        <p:txBody>
          <a:bodyPr wrap="square" lIns="0" tIns="0" rIns="0" bIns="0" rtlCol="0" anchor="ctr"/>
          <a:lstStyle/>
          <a:p>
            <a:pPr marL="0" indent="0" algn="l">
              <a:buNone/>
            </a:pPr>
            <a:r>
              <a:rPr lang="en-US" sz="3200" b="1" dirty="0">
                <a:solidFill>
                  <a:srgbClr val="FFC72C"/>
                </a:solidFill>
                <a:latin typeface="Impact" pitchFamily="34" charset="0"/>
                <a:ea typeface="Impact" pitchFamily="34" charset="-122"/>
                <a:cs typeface="Impact" pitchFamily="34" charset="-120"/>
              </a:rPr>
              <a:t>04</a:t>
            </a:r>
            <a:endParaRPr lang="en-US" sz="3200" dirty="0"/>
          </a:p>
        </p:txBody>
      </p:sp>
      <p:sp>
        <p:nvSpPr>
          <p:cNvPr id="84" name="Text 82"/>
          <p:cNvSpPr/>
          <p:nvPr/>
        </p:nvSpPr>
        <p:spPr>
          <a:xfrm>
            <a:off x="2286000" y="22311360"/>
            <a:ext cx="26151840" cy="91440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Calibri" pitchFamily="34" charset="0"/>
                <a:ea typeface="Calibri" pitchFamily="34" charset="-122"/>
                <a:cs typeface="Calibri" pitchFamily="34" charset="-120"/>
              </a:rPr>
              <a:t>TECH STACK &amp; PIPELINE</a:t>
            </a:r>
            <a:endParaRPr lang="en-US" sz="4400" b="1" dirty="0"/>
          </a:p>
        </p:txBody>
      </p:sp>
      <p:sp>
        <p:nvSpPr>
          <p:cNvPr id="85" name="Shape 83"/>
          <p:cNvSpPr/>
          <p:nvPr/>
        </p:nvSpPr>
        <p:spPr>
          <a:xfrm>
            <a:off x="868680" y="23500080"/>
            <a:ext cx="4434840" cy="1645920"/>
          </a:xfrm>
          <a:prstGeom prst="roundRect">
            <a:avLst>
              <a:gd name="adj" fmla="val 10000"/>
            </a:avLst>
          </a:prstGeom>
          <a:solidFill>
            <a:srgbClr val="FFFFFF"/>
          </a:solidFill>
          <a:ln w="31750">
            <a:solidFill>
              <a:srgbClr val="1E5631"/>
            </a:solidFill>
            <a:prstDash val="solid"/>
          </a:ln>
        </p:spPr>
        <p:txBody>
          <a:bodyPr/>
          <a:lstStyle/>
          <a:p>
            <a:endParaRPr lang="en-US" sz="3200"/>
          </a:p>
        </p:txBody>
      </p:sp>
      <p:sp>
        <p:nvSpPr>
          <p:cNvPr id="86" name="Text 84"/>
          <p:cNvSpPr/>
          <p:nvPr/>
        </p:nvSpPr>
        <p:spPr>
          <a:xfrm>
            <a:off x="868680" y="23682960"/>
            <a:ext cx="4434840" cy="731520"/>
          </a:xfrm>
          <a:prstGeom prst="rect">
            <a:avLst/>
          </a:prstGeom>
          <a:noFill/>
          <a:ln/>
        </p:spPr>
        <p:txBody>
          <a:bodyPr wrap="square" lIns="0" tIns="0" rIns="0" bIns="0" rtlCol="0" anchor="ctr"/>
          <a:lstStyle/>
          <a:p>
            <a:pPr marL="0" indent="0" algn="ctr">
              <a:buNone/>
            </a:pPr>
            <a:r>
              <a:rPr lang="en-US" sz="3200" b="1" dirty="0">
                <a:solidFill>
                  <a:srgbClr val="1E5631"/>
                </a:solidFill>
                <a:latin typeface="Calibri" pitchFamily="34" charset="0"/>
                <a:ea typeface="Calibri" pitchFamily="34" charset="-122"/>
                <a:cs typeface="Calibri" pitchFamily="34" charset="-120"/>
              </a:rPr>
              <a:t>Unity 6 LTS</a:t>
            </a:r>
            <a:endParaRPr lang="en-US" sz="3200" dirty="0"/>
          </a:p>
        </p:txBody>
      </p:sp>
      <p:sp>
        <p:nvSpPr>
          <p:cNvPr id="87" name="Text 85"/>
          <p:cNvSpPr/>
          <p:nvPr/>
        </p:nvSpPr>
        <p:spPr>
          <a:xfrm>
            <a:off x="868680" y="24414480"/>
            <a:ext cx="4434840" cy="548640"/>
          </a:xfrm>
          <a:prstGeom prst="rect">
            <a:avLst/>
          </a:prstGeom>
          <a:noFill/>
          <a:ln/>
        </p:spPr>
        <p:txBody>
          <a:bodyPr wrap="square" lIns="0" tIns="0" rIns="0" bIns="0" rtlCol="0" anchor="ctr"/>
          <a:lstStyle/>
          <a:p>
            <a:pPr marL="0" indent="0" algn="ctr">
              <a:buNone/>
            </a:pPr>
            <a:r>
              <a:rPr lang="en-US" sz="3200" kern="0" spc="200" dirty="0">
                <a:solidFill>
                  <a:srgbClr val="6B6B65"/>
                </a:solidFill>
                <a:latin typeface="Consolas" pitchFamily="34" charset="0"/>
                <a:ea typeface="Consolas" pitchFamily="34" charset="-122"/>
                <a:cs typeface="Consolas" pitchFamily="34" charset="-120"/>
              </a:rPr>
              <a:t>Engine</a:t>
            </a:r>
            <a:endParaRPr lang="en-US" sz="3200" dirty="0"/>
          </a:p>
        </p:txBody>
      </p:sp>
      <p:sp>
        <p:nvSpPr>
          <p:cNvPr id="88" name="Shape 86"/>
          <p:cNvSpPr/>
          <p:nvPr/>
        </p:nvSpPr>
        <p:spPr>
          <a:xfrm>
            <a:off x="5486400" y="23500080"/>
            <a:ext cx="4434840" cy="1645920"/>
          </a:xfrm>
          <a:prstGeom prst="roundRect">
            <a:avLst>
              <a:gd name="adj" fmla="val 10000"/>
            </a:avLst>
          </a:prstGeom>
          <a:solidFill>
            <a:srgbClr val="FFFFFF"/>
          </a:solidFill>
          <a:ln w="31750">
            <a:solidFill>
              <a:srgbClr val="1E5631"/>
            </a:solidFill>
            <a:prstDash val="solid"/>
          </a:ln>
        </p:spPr>
        <p:txBody>
          <a:bodyPr/>
          <a:lstStyle/>
          <a:p>
            <a:endParaRPr lang="en-US" sz="3200"/>
          </a:p>
        </p:txBody>
      </p:sp>
      <p:sp>
        <p:nvSpPr>
          <p:cNvPr id="89" name="Text 87"/>
          <p:cNvSpPr/>
          <p:nvPr/>
        </p:nvSpPr>
        <p:spPr>
          <a:xfrm>
            <a:off x="5486400" y="23682960"/>
            <a:ext cx="4434840" cy="731520"/>
          </a:xfrm>
          <a:prstGeom prst="rect">
            <a:avLst/>
          </a:prstGeom>
          <a:noFill/>
          <a:ln/>
        </p:spPr>
        <p:txBody>
          <a:bodyPr wrap="square" lIns="0" tIns="0" rIns="0" bIns="0" rtlCol="0" anchor="ctr"/>
          <a:lstStyle/>
          <a:p>
            <a:pPr marL="0" indent="0" algn="ctr">
              <a:buNone/>
            </a:pPr>
            <a:r>
              <a:rPr lang="en-US" sz="3200" b="1" dirty="0">
                <a:solidFill>
                  <a:srgbClr val="1E5631"/>
                </a:solidFill>
                <a:latin typeface="Calibri" pitchFamily="34" charset="0"/>
                <a:ea typeface="Calibri" pitchFamily="34" charset="-122"/>
                <a:cs typeface="Calibri" pitchFamily="34" charset="-120"/>
              </a:rPr>
              <a:t>C#</a:t>
            </a:r>
            <a:endParaRPr lang="en-US" sz="3200" dirty="0"/>
          </a:p>
        </p:txBody>
      </p:sp>
      <p:sp>
        <p:nvSpPr>
          <p:cNvPr id="90" name="Text 88"/>
          <p:cNvSpPr/>
          <p:nvPr/>
        </p:nvSpPr>
        <p:spPr>
          <a:xfrm>
            <a:off x="5486400" y="24414480"/>
            <a:ext cx="4434840" cy="548640"/>
          </a:xfrm>
          <a:prstGeom prst="rect">
            <a:avLst/>
          </a:prstGeom>
          <a:noFill/>
          <a:ln/>
        </p:spPr>
        <p:txBody>
          <a:bodyPr wrap="square" lIns="0" tIns="0" rIns="0" bIns="0" rtlCol="0" anchor="ctr"/>
          <a:lstStyle/>
          <a:p>
            <a:pPr marL="0" indent="0" algn="ctr">
              <a:buNone/>
            </a:pPr>
            <a:r>
              <a:rPr lang="en-US" sz="3200" kern="0" spc="200" dirty="0">
                <a:solidFill>
                  <a:srgbClr val="6B6B65"/>
                </a:solidFill>
                <a:latin typeface="Consolas" pitchFamily="34" charset="0"/>
                <a:ea typeface="Consolas" pitchFamily="34" charset="-122"/>
                <a:cs typeface="Consolas" pitchFamily="34" charset="-120"/>
              </a:rPr>
              <a:t>Language</a:t>
            </a:r>
            <a:endParaRPr lang="en-US" sz="3200" dirty="0"/>
          </a:p>
        </p:txBody>
      </p:sp>
      <p:sp>
        <p:nvSpPr>
          <p:cNvPr id="91" name="Shape 89"/>
          <p:cNvSpPr/>
          <p:nvPr/>
        </p:nvSpPr>
        <p:spPr>
          <a:xfrm>
            <a:off x="10104120" y="23500080"/>
            <a:ext cx="4434840" cy="1645920"/>
          </a:xfrm>
          <a:prstGeom prst="roundRect">
            <a:avLst>
              <a:gd name="adj" fmla="val 10000"/>
            </a:avLst>
          </a:prstGeom>
          <a:solidFill>
            <a:srgbClr val="FFFFFF"/>
          </a:solidFill>
          <a:ln w="31750">
            <a:solidFill>
              <a:srgbClr val="1E5631"/>
            </a:solidFill>
            <a:prstDash val="solid"/>
          </a:ln>
        </p:spPr>
        <p:txBody>
          <a:bodyPr/>
          <a:lstStyle/>
          <a:p>
            <a:endParaRPr lang="en-US" sz="3200"/>
          </a:p>
        </p:txBody>
      </p:sp>
      <p:sp>
        <p:nvSpPr>
          <p:cNvPr id="92" name="Text 90"/>
          <p:cNvSpPr/>
          <p:nvPr/>
        </p:nvSpPr>
        <p:spPr>
          <a:xfrm>
            <a:off x="10104120" y="23682960"/>
            <a:ext cx="4434840" cy="731520"/>
          </a:xfrm>
          <a:prstGeom prst="rect">
            <a:avLst/>
          </a:prstGeom>
          <a:noFill/>
          <a:ln/>
        </p:spPr>
        <p:txBody>
          <a:bodyPr wrap="square" lIns="0" tIns="0" rIns="0" bIns="0" rtlCol="0" anchor="ctr"/>
          <a:lstStyle/>
          <a:p>
            <a:pPr marL="0" indent="0" algn="ctr">
              <a:buNone/>
            </a:pPr>
            <a:r>
              <a:rPr lang="en-US" sz="3200" b="1" dirty="0">
                <a:solidFill>
                  <a:srgbClr val="1E5631"/>
                </a:solidFill>
                <a:latin typeface="Calibri" pitchFamily="34" charset="0"/>
                <a:ea typeface="Calibri" pitchFamily="34" charset="-122"/>
                <a:cs typeface="Calibri" pitchFamily="34" charset="-120"/>
              </a:rPr>
              <a:t>ProBuilder</a:t>
            </a:r>
            <a:endParaRPr lang="en-US" sz="3200" dirty="0"/>
          </a:p>
        </p:txBody>
      </p:sp>
      <p:sp>
        <p:nvSpPr>
          <p:cNvPr id="93" name="Text 91"/>
          <p:cNvSpPr/>
          <p:nvPr/>
        </p:nvSpPr>
        <p:spPr>
          <a:xfrm>
            <a:off x="10104120" y="24414480"/>
            <a:ext cx="4434840" cy="548640"/>
          </a:xfrm>
          <a:prstGeom prst="rect">
            <a:avLst/>
          </a:prstGeom>
          <a:noFill/>
          <a:ln/>
        </p:spPr>
        <p:txBody>
          <a:bodyPr wrap="square" lIns="0" tIns="0" rIns="0" bIns="0" rtlCol="0" anchor="ctr"/>
          <a:lstStyle/>
          <a:p>
            <a:pPr marL="0" indent="0" algn="ctr">
              <a:buNone/>
            </a:pPr>
            <a:r>
              <a:rPr lang="en-US" sz="3200" kern="0" spc="200" dirty="0">
                <a:solidFill>
                  <a:srgbClr val="6B6B65"/>
                </a:solidFill>
                <a:latin typeface="Consolas" pitchFamily="34" charset="0"/>
                <a:ea typeface="Consolas" pitchFamily="34" charset="-122"/>
                <a:cs typeface="Consolas" pitchFamily="34" charset="-120"/>
              </a:rPr>
              <a:t>Level Design</a:t>
            </a:r>
            <a:endParaRPr lang="en-US" sz="3200" dirty="0"/>
          </a:p>
        </p:txBody>
      </p:sp>
      <p:sp>
        <p:nvSpPr>
          <p:cNvPr id="94" name="Shape 92"/>
          <p:cNvSpPr/>
          <p:nvPr/>
        </p:nvSpPr>
        <p:spPr>
          <a:xfrm>
            <a:off x="14721840" y="23500080"/>
            <a:ext cx="4434840" cy="1645920"/>
          </a:xfrm>
          <a:prstGeom prst="roundRect">
            <a:avLst>
              <a:gd name="adj" fmla="val 10000"/>
            </a:avLst>
          </a:prstGeom>
          <a:solidFill>
            <a:srgbClr val="FFFFFF"/>
          </a:solidFill>
          <a:ln w="31750">
            <a:solidFill>
              <a:srgbClr val="1E5631"/>
            </a:solidFill>
            <a:prstDash val="solid"/>
          </a:ln>
        </p:spPr>
        <p:txBody>
          <a:bodyPr/>
          <a:lstStyle/>
          <a:p>
            <a:endParaRPr lang="en-US" sz="3200"/>
          </a:p>
        </p:txBody>
      </p:sp>
      <p:sp>
        <p:nvSpPr>
          <p:cNvPr id="95" name="Text 93"/>
          <p:cNvSpPr/>
          <p:nvPr/>
        </p:nvSpPr>
        <p:spPr>
          <a:xfrm>
            <a:off x="14721840" y="23682960"/>
            <a:ext cx="4434840" cy="731520"/>
          </a:xfrm>
          <a:prstGeom prst="rect">
            <a:avLst/>
          </a:prstGeom>
          <a:noFill/>
          <a:ln/>
        </p:spPr>
        <p:txBody>
          <a:bodyPr wrap="square" lIns="0" tIns="0" rIns="0" bIns="0" rtlCol="0" anchor="ctr"/>
          <a:lstStyle/>
          <a:p>
            <a:pPr marL="0" indent="0" algn="ctr">
              <a:buNone/>
            </a:pPr>
            <a:r>
              <a:rPr lang="en-US" sz="3200" b="1" dirty="0">
                <a:solidFill>
                  <a:srgbClr val="1E5631"/>
                </a:solidFill>
                <a:latin typeface="Calibri" pitchFamily="34" charset="0"/>
                <a:ea typeface="Calibri" pitchFamily="34" charset="-122"/>
                <a:cs typeface="Calibri" pitchFamily="34" charset="-120"/>
              </a:rPr>
              <a:t>FMOD 2.03</a:t>
            </a:r>
            <a:endParaRPr lang="en-US" sz="3200" dirty="0"/>
          </a:p>
        </p:txBody>
      </p:sp>
      <p:sp>
        <p:nvSpPr>
          <p:cNvPr id="96" name="Text 94"/>
          <p:cNvSpPr/>
          <p:nvPr/>
        </p:nvSpPr>
        <p:spPr>
          <a:xfrm>
            <a:off x="14721840" y="24414480"/>
            <a:ext cx="4434840" cy="548640"/>
          </a:xfrm>
          <a:prstGeom prst="rect">
            <a:avLst/>
          </a:prstGeom>
          <a:noFill/>
          <a:ln/>
        </p:spPr>
        <p:txBody>
          <a:bodyPr wrap="square" lIns="0" tIns="0" rIns="0" bIns="0" rtlCol="0" anchor="ctr"/>
          <a:lstStyle/>
          <a:p>
            <a:pPr marL="0" indent="0" algn="ctr">
              <a:buNone/>
            </a:pPr>
            <a:r>
              <a:rPr lang="en-US" sz="3200" kern="0" spc="200" dirty="0">
                <a:solidFill>
                  <a:srgbClr val="6B6B65"/>
                </a:solidFill>
                <a:latin typeface="Consolas" pitchFamily="34" charset="0"/>
                <a:ea typeface="Consolas" pitchFamily="34" charset="-122"/>
                <a:cs typeface="Consolas" pitchFamily="34" charset="-120"/>
              </a:rPr>
              <a:t>Audio</a:t>
            </a:r>
            <a:endParaRPr lang="en-US" sz="3200" dirty="0"/>
          </a:p>
        </p:txBody>
      </p:sp>
      <p:sp>
        <p:nvSpPr>
          <p:cNvPr id="97" name="Shape 95"/>
          <p:cNvSpPr/>
          <p:nvPr/>
        </p:nvSpPr>
        <p:spPr>
          <a:xfrm>
            <a:off x="19339560" y="23500080"/>
            <a:ext cx="4434840" cy="1645920"/>
          </a:xfrm>
          <a:prstGeom prst="roundRect">
            <a:avLst>
              <a:gd name="adj" fmla="val 10000"/>
            </a:avLst>
          </a:prstGeom>
          <a:solidFill>
            <a:srgbClr val="FFFFFF"/>
          </a:solidFill>
          <a:ln w="31750">
            <a:solidFill>
              <a:srgbClr val="1E5631"/>
            </a:solidFill>
            <a:prstDash val="solid"/>
          </a:ln>
        </p:spPr>
        <p:txBody>
          <a:bodyPr/>
          <a:lstStyle/>
          <a:p>
            <a:endParaRPr lang="en-US" sz="3200"/>
          </a:p>
        </p:txBody>
      </p:sp>
      <p:sp>
        <p:nvSpPr>
          <p:cNvPr id="98" name="Text 96"/>
          <p:cNvSpPr/>
          <p:nvPr/>
        </p:nvSpPr>
        <p:spPr>
          <a:xfrm>
            <a:off x="19339560" y="23682960"/>
            <a:ext cx="4434840" cy="731520"/>
          </a:xfrm>
          <a:prstGeom prst="rect">
            <a:avLst/>
          </a:prstGeom>
          <a:noFill/>
          <a:ln/>
        </p:spPr>
        <p:txBody>
          <a:bodyPr wrap="square" lIns="0" tIns="0" rIns="0" bIns="0" rtlCol="0" anchor="ctr"/>
          <a:lstStyle/>
          <a:p>
            <a:pPr marL="0" indent="0" algn="ctr">
              <a:buNone/>
            </a:pPr>
            <a:r>
              <a:rPr lang="en-US" sz="3200" b="1" dirty="0">
                <a:solidFill>
                  <a:srgbClr val="1E5631"/>
                </a:solidFill>
                <a:latin typeface="Calibri" pitchFamily="34" charset="0"/>
                <a:ea typeface="Calibri" pitchFamily="34" charset="-122"/>
                <a:cs typeface="Calibri" pitchFamily="34" charset="-120"/>
              </a:rPr>
              <a:t>Blender</a:t>
            </a:r>
            <a:endParaRPr lang="en-US" sz="3200" dirty="0"/>
          </a:p>
        </p:txBody>
      </p:sp>
      <p:sp>
        <p:nvSpPr>
          <p:cNvPr id="99" name="Text 97"/>
          <p:cNvSpPr/>
          <p:nvPr/>
        </p:nvSpPr>
        <p:spPr>
          <a:xfrm>
            <a:off x="19339560" y="24414480"/>
            <a:ext cx="4434840" cy="548640"/>
          </a:xfrm>
          <a:prstGeom prst="rect">
            <a:avLst/>
          </a:prstGeom>
          <a:noFill/>
          <a:ln/>
        </p:spPr>
        <p:txBody>
          <a:bodyPr wrap="square" lIns="0" tIns="0" rIns="0" bIns="0" rtlCol="0" anchor="ctr"/>
          <a:lstStyle/>
          <a:p>
            <a:pPr marL="0" indent="0" algn="ctr">
              <a:buNone/>
            </a:pPr>
            <a:r>
              <a:rPr lang="en-US" sz="3200" kern="0" spc="200" dirty="0">
                <a:solidFill>
                  <a:srgbClr val="6B6B65"/>
                </a:solidFill>
                <a:latin typeface="Consolas" pitchFamily="34" charset="0"/>
                <a:ea typeface="Consolas" pitchFamily="34" charset="-122"/>
                <a:cs typeface="Consolas" pitchFamily="34" charset="-120"/>
              </a:rPr>
              <a:t>3D Assets</a:t>
            </a:r>
            <a:endParaRPr lang="en-US" sz="3200" dirty="0"/>
          </a:p>
        </p:txBody>
      </p:sp>
      <p:sp>
        <p:nvSpPr>
          <p:cNvPr id="100" name="Shape 98"/>
          <p:cNvSpPr/>
          <p:nvPr/>
        </p:nvSpPr>
        <p:spPr>
          <a:xfrm>
            <a:off x="23957280" y="23500080"/>
            <a:ext cx="4434840" cy="1645920"/>
          </a:xfrm>
          <a:prstGeom prst="roundRect">
            <a:avLst>
              <a:gd name="adj" fmla="val 10000"/>
            </a:avLst>
          </a:prstGeom>
          <a:solidFill>
            <a:srgbClr val="FFFFFF"/>
          </a:solidFill>
          <a:ln w="31750">
            <a:solidFill>
              <a:srgbClr val="1E5631"/>
            </a:solidFill>
            <a:prstDash val="solid"/>
          </a:ln>
        </p:spPr>
        <p:txBody>
          <a:bodyPr/>
          <a:lstStyle/>
          <a:p>
            <a:endParaRPr lang="en-US" sz="3200"/>
          </a:p>
        </p:txBody>
      </p:sp>
      <p:sp>
        <p:nvSpPr>
          <p:cNvPr id="101" name="Text 99"/>
          <p:cNvSpPr/>
          <p:nvPr/>
        </p:nvSpPr>
        <p:spPr>
          <a:xfrm>
            <a:off x="23957280" y="23682960"/>
            <a:ext cx="4434840" cy="731520"/>
          </a:xfrm>
          <a:prstGeom prst="rect">
            <a:avLst/>
          </a:prstGeom>
          <a:noFill/>
          <a:ln/>
        </p:spPr>
        <p:txBody>
          <a:bodyPr wrap="square" lIns="0" tIns="0" rIns="0" bIns="0" rtlCol="0" anchor="ctr"/>
          <a:lstStyle/>
          <a:p>
            <a:pPr marL="0" indent="0" algn="ctr">
              <a:buNone/>
            </a:pPr>
            <a:r>
              <a:rPr lang="en-US" sz="3200" b="1" dirty="0">
                <a:solidFill>
                  <a:srgbClr val="1E5631"/>
                </a:solidFill>
                <a:latin typeface="Calibri" pitchFamily="34" charset="0"/>
                <a:ea typeface="Calibri" pitchFamily="34" charset="-122"/>
                <a:cs typeface="Calibri" pitchFamily="34" charset="-120"/>
              </a:rPr>
              <a:t>GitHub</a:t>
            </a:r>
            <a:endParaRPr lang="en-US" sz="3200" dirty="0"/>
          </a:p>
        </p:txBody>
      </p:sp>
      <p:sp>
        <p:nvSpPr>
          <p:cNvPr id="102" name="Text 100"/>
          <p:cNvSpPr/>
          <p:nvPr/>
        </p:nvSpPr>
        <p:spPr>
          <a:xfrm>
            <a:off x="23957280" y="24414480"/>
            <a:ext cx="4434840" cy="548640"/>
          </a:xfrm>
          <a:prstGeom prst="rect">
            <a:avLst/>
          </a:prstGeom>
          <a:noFill/>
          <a:ln/>
        </p:spPr>
        <p:txBody>
          <a:bodyPr wrap="square" lIns="0" tIns="0" rIns="0" bIns="0" rtlCol="0" anchor="ctr"/>
          <a:lstStyle/>
          <a:p>
            <a:pPr marL="0" indent="0" algn="ctr">
              <a:buNone/>
            </a:pPr>
            <a:r>
              <a:rPr lang="en-US" sz="3200" kern="0" spc="200" dirty="0">
                <a:solidFill>
                  <a:srgbClr val="6B6B65"/>
                </a:solidFill>
                <a:latin typeface="Consolas" pitchFamily="34" charset="0"/>
                <a:ea typeface="Consolas" pitchFamily="34" charset="-122"/>
                <a:cs typeface="Consolas" pitchFamily="34" charset="-120"/>
              </a:rPr>
              <a:t>Version Control</a:t>
            </a:r>
            <a:endParaRPr lang="en-US" sz="3200" dirty="0"/>
          </a:p>
        </p:txBody>
      </p:sp>
      <p:sp>
        <p:nvSpPr>
          <p:cNvPr id="103" name="Shape 101"/>
          <p:cNvSpPr/>
          <p:nvPr/>
        </p:nvSpPr>
        <p:spPr>
          <a:xfrm>
            <a:off x="29169360" y="22311360"/>
            <a:ext cx="14081760" cy="914400"/>
          </a:xfrm>
          <a:prstGeom prst="rect">
            <a:avLst/>
          </a:prstGeom>
          <a:solidFill>
            <a:srgbClr val="1E5631"/>
          </a:solidFill>
          <a:ln/>
        </p:spPr>
        <p:txBody>
          <a:bodyPr/>
          <a:lstStyle/>
          <a:p>
            <a:endParaRPr lang="en-US" sz="3200"/>
          </a:p>
        </p:txBody>
      </p:sp>
      <p:sp>
        <p:nvSpPr>
          <p:cNvPr id="104" name="Text 102"/>
          <p:cNvSpPr/>
          <p:nvPr/>
        </p:nvSpPr>
        <p:spPr>
          <a:xfrm>
            <a:off x="29443680" y="22311360"/>
            <a:ext cx="1371600" cy="914400"/>
          </a:xfrm>
          <a:prstGeom prst="rect">
            <a:avLst/>
          </a:prstGeom>
          <a:noFill/>
          <a:ln/>
        </p:spPr>
        <p:txBody>
          <a:bodyPr wrap="square" lIns="0" tIns="0" rIns="0" bIns="0" rtlCol="0" anchor="ctr"/>
          <a:lstStyle/>
          <a:p>
            <a:pPr marL="0" indent="0" algn="l">
              <a:buNone/>
            </a:pPr>
            <a:r>
              <a:rPr lang="en-US" sz="3200" b="1" dirty="0">
                <a:solidFill>
                  <a:srgbClr val="FFC72C"/>
                </a:solidFill>
                <a:latin typeface="Impact" pitchFamily="34" charset="0"/>
                <a:ea typeface="Impact" pitchFamily="34" charset="-122"/>
                <a:cs typeface="Impact" pitchFamily="34" charset="-120"/>
              </a:rPr>
              <a:t>05</a:t>
            </a:r>
            <a:endParaRPr lang="en-US" sz="3200" dirty="0"/>
          </a:p>
        </p:txBody>
      </p:sp>
      <p:sp>
        <p:nvSpPr>
          <p:cNvPr id="105" name="Text 103"/>
          <p:cNvSpPr/>
          <p:nvPr/>
        </p:nvSpPr>
        <p:spPr>
          <a:xfrm>
            <a:off x="30815280" y="22311360"/>
            <a:ext cx="12252960" cy="91440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Calibri" pitchFamily="34" charset="0"/>
                <a:ea typeface="Calibri" pitchFamily="34" charset="-122"/>
                <a:cs typeface="Calibri" pitchFamily="34" charset="-120"/>
              </a:rPr>
              <a:t>INNOVATIONS / CHALLENGES</a:t>
            </a:r>
            <a:endParaRPr lang="en-US" sz="4400" b="1" dirty="0"/>
          </a:p>
        </p:txBody>
      </p:sp>
      <p:sp>
        <p:nvSpPr>
          <p:cNvPr id="106" name="Text 104"/>
          <p:cNvSpPr/>
          <p:nvPr/>
        </p:nvSpPr>
        <p:spPr>
          <a:xfrm>
            <a:off x="29352240" y="23500080"/>
            <a:ext cx="13716000" cy="3200400"/>
          </a:xfrm>
          <a:prstGeom prst="rect">
            <a:avLst/>
          </a:prstGeom>
          <a:noFill/>
          <a:ln/>
        </p:spPr>
        <p:txBody>
          <a:bodyPr wrap="square" lIns="0" tIns="0" rIns="0" bIns="0" rtlCol="0" anchor="t"/>
          <a:lstStyle/>
          <a:p>
            <a:r>
              <a:rPr lang="en-US" sz="3200" dirty="0"/>
              <a:t>We built an adaptive sanity and combat pressure system to maintain tension during firefights without making the game feel unfair. As enemy aggression increases, the player experiences escalating hallucination audio, visual distortion, chromatic instability, and temporary focus loss that simulate psychological stress during combat encounters. The system was designed to dynamically intensify pressure while still preserving player control and readability during high-intensity moments.</a:t>
            </a:r>
          </a:p>
        </p:txBody>
      </p:sp>
      <p:sp>
        <p:nvSpPr>
          <p:cNvPr id="107" name="Shape 105"/>
          <p:cNvSpPr/>
          <p:nvPr/>
        </p:nvSpPr>
        <p:spPr>
          <a:xfrm>
            <a:off x="0" y="27432000"/>
            <a:ext cx="43891200" cy="5486400"/>
          </a:xfrm>
          <a:prstGeom prst="rect">
            <a:avLst/>
          </a:prstGeom>
          <a:solidFill>
            <a:srgbClr val="1E5631"/>
          </a:solidFill>
          <a:ln/>
        </p:spPr>
        <p:txBody>
          <a:bodyPr/>
          <a:lstStyle/>
          <a:p>
            <a:endParaRPr lang="en-US" sz="3200" dirty="0"/>
          </a:p>
        </p:txBody>
      </p:sp>
      <p:sp>
        <p:nvSpPr>
          <p:cNvPr id="108" name="Shape 106"/>
          <p:cNvSpPr/>
          <p:nvPr/>
        </p:nvSpPr>
        <p:spPr>
          <a:xfrm>
            <a:off x="0" y="27432000"/>
            <a:ext cx="43891200" cy="91440"/>
          </a:xfrm>
          <a:prstGeom prst="rect">
            <a:avLst/>
          </a:prstGeom>
          <a:solidFill>
            <a:srgbClr val="FFC72C"/>
          </a:solidFill>
          <a:ln/>
        </p:spPr>
        <p:txBody>
          <a:bodyPr/>
          <a:lstStyle/>
          <a:p>
            <a:endParaRPr lang="en-US" sz="3200"/>
          </a:p>
        </p:txBody>
      </p:sp>
      <p:sp>
        <p:nvSpPr>
          <p:cNvPr id="109" name="Text 107"/>
          <p:cNvSpPr/>
          <p:nvPr/>
        </p:nvSpPr>
        <p:spPr>
          <a:xfrm>
            <a:off x="640080" y="27797760"/>
            <a:ext cx="18288000" cy="640080"/>
          </a:xfrm>
          <a:prstGeom prst="rect">
            <a:avLst/>
          </a:prstGeom>
          <a:noFill/>
          <a:ln/>
        </p:spPr>
        <p:txBody>
          <a:bodyPr wrap="square" lIns="0" tIns="0" rIns="0" bIns="0" rtlCol="0" anchor="ctr"/>
          <a:lstStyle/>
          <a:p>
            <a:pPr marL="0" indent="0">
              <a:buNone/>
            </a:pPr>
            <a:r>
              <a:rPr lang="en-US" sz="3200" b="1" kern="0" spc="600" dirty="0">
                <a:solidFill>
                  <a:srgbClr val="FFC72C"/>
                </a:solidFill>
                <a:latin typeface="Consolas" pitchFamily="34" charset="0"/>
                <a:ea typeface="Consolas" pitchFamily="34" charset="-122"/>
                <a:cs typeface="Consolas" pitchFamily="34" charset="-120"/>
              </a:rPr>
              <a:t>THE TEAM</a:t>
            </a:r>
            <a:endParaRPr lang="en-US" sz="3200" dirty="0"/>
          </a:p>
        </p:txBody>
      </p:sp>
      <p:sp>
        <p:nvSpPr>
          <p:cNvPr id="110" name="Shape 108"/>
          <p:cNvSpPr/>
          <p:nvPr/>
        </p:nvSpPr>
        <p:spPr>
          <a:xfrm>
            <a:off x="640080" y="28712160"/>
            <a:ext cx="1280160" cy="1280160"/>
          </a:xfrm>
          <a:prstGeom prst="ellipse">
            <a:avLst/>
          </a:prstGeom>
          <a:solidFill>
            <a:srgbClr val="3A8054"/>
          </a:solidFill>
          <a:ln w="25400">
            <a:solidFill>
              <a:srgbClr val="FFC72C"/>
            </a:solidFill>
            <a:prstDash val="solid"/>
          </a:ln>
        </p:spPr>
        <p:txBody>
          <a:bodyPr/>
          <a:lstStyle/>
          <a:p>
            <a:endParaRPr lang="en-US" sz="3200"/>
          </a:p>
        </p:txBody>
      </p:sp>
      <p:sp>
        <p:nvSpPr>
          <p:cNvPr id="111" name="Text 109"/>
          <p:cNvSpPr/>
          <p:nvPr/>
        </p:nvSpPr>
        <p:spPr>
          <a:xfrm>
            <a:off x="2194560" y="28712160"/>
            <a:ext cx="704088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Eric Fierro</a:t>
            </a:r>
            <a:endParaRPr lang="en-US" sz="3200" dirty="0"/>
          </a:p>
        </p:txBody>
      </p:sp>
      <p:sp>
        <p:nvSpPr>
          <p:cNvPr id="112" name="Text 110"/>
          <p:cNvSpPr/>
          <p:nvPr/>
        </p:nvSpPr>
        <p:spPr>
          <a:xfrm>
            <a:off x="2194560" y="29352240"/>
            <a:ext cx="7040880" cy="548640"/>
          </a:xfrm>
          <a:prstGeom prst="rect">
            <a:avLst/>
          </a:prstGeom>
          <a:noFill/>
          <a:ln/>
        </p:spPr>
        <p:txBody>
          <a:bodyPr wrap="square" lIns="0" tIns="0" rIns="0" bIns="0" rtlCol="0" anchor="ctr"/>
          <a:lstStyle/>
          <a:p>
            <a:pPr marL="0" indent="0">
              <a:buNone/>
            </a:pPr>
            <a:r>
              <a:rPr lang="en-US" sz="3200" kern="0" spc="100" dirty="0">
                <a:solidFill>
                  <a:srgbClr val="FFC72C"/>
                </a:solidFill>
                <a:latin typeface="Consolas" pitchFamily="34" charset="0"/>
                <a:ea typeface="Consolas" pitchFamily="34" charset="-122"/>
                <a:cs typeface="Consolas" pitchFamily="34" charset="-120"/>
              </a:rPr>
              <a:t>Game Design / Animations</a:t>
            </a:r>
            <a:endParaRPr lang="en-US" sz="3200" dirty="0"/>
          </a:p>
        </p:txBody>
      </p:sp>
      <p:sp>
        <p:nvSpPr>
          <p:cNvPr id="113" name="Shape 111"/>
          <p:cNvSpPr/>
          <p:nvPr/>
        </p:nvSpPr>
        <p:spPr>
          <a:xfrm>
            <a:off x="9509760" y="28712160"/>
            <a:ext cx="1280160" cy="1280160"/>
          </a:xfrm>
          <a:prstGeom prst="ellipse">
            <a:avLst/>
          </a:prstGeom>
          <a:solidFill>
            <a:srgbClr val="3A8054"/>
          </a:solidFill>
          <a:ln w="25400">
            <a:solidFill>
              <a:srgbClr val="FFC72C"/>
            </a:solidFill>
            <a:prstDash val="solid"/>
          </a:ln>
        </p:spPr>
        <p:txBody>
          <a:bodyPr/>
          <a:lstStyle/>
          <a:p>
            <a:endParaRPr lang="en-US" sz="3200"/>
          </a:p>
        </p:txBody>
      </p:sp>
      <p:sp>
        <p:nvSpPr>
          <p:cNvPr id="114" name="Text 112"/>
          <p:cNvSpPr/>
          <p:nvPr/>
        </p:nvSpPr>
        <p:spPr>
          <a:xfrm>
            <a:off x="11064240" y="28712160"/>
            <a:ext cx="704088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Michelle Reyes</a:t>
            </a:r>
            <a:endParaRPr lang="en-US" sz="3200" dirty="0"/>
          </a:p>
        </p:txBody>
      </p:sp>
      <p:sp>
        <p:nvSpPr>
          <p:cNvPr id="115" name="Text 113"/>
          <p:cNvSpPr/>
          <p:nvPr/>
        </p:nvSpPr>
        <p:spPr>
          <a:xfrm>
            <a:off x="11064240" y="29352240"/>
            <a:ext cx="7040880" cy="548640"/>
          </a:xfrm>
          <a:prstGeom prst="rect">
            <a:avLst/>
          </a:prstGeom>
          <a:noFill/>
          <a:ln/>
        </p:spPr>
        <p:txBody>
          <a:bodyPr wrap="square" lIns="0" tIns="0" rIns="0" bIns="0" rtlCol="0" anchor="ctr"/>
          <a:lstStyle/>
          <a:p>
            <a:pPr marL="0" indent="0">
              <a:buNone/>
            </a:pPr>
            <a:r>
              <a:rPr lang="en-US" sz="3200" kern="0" spc="100" dirty="0">
                <a:solidFill>
                  <a:srgbClr val="FFC72C"/>
                </a:solidFill>
                <a:latin typeface="Consolas" pitchFamily="34" charset="0"/>
              </a:rPr>
              <a:t>Level Design / Programming</a:t>
            </a:r>
            <a:endParaRPr lang="en-US" sz="3200" dirty="0"/>
          </a:p>
        </p:txBody>
      </p:sp>
      <p:sp>
        <p:nvSpPr>
          <p:cNvPr id="116" name="Shape 114"/>
          <p:cNvSpPr/>
          <p:nvPr/>
        </p:nvSpPr>
        <p:spPr>
          <a:xfrm>
            <a:off x="640080" y="30403800"/>
            <a:ext cx="1280160" cy="1280160"/>
          </a:xfrm>
          <a:prstGeom prst="ellipse">
            <a:avLst/>
          </a:prstGeom>
          <a:solidFill>
            <a:srgbClr val="3A8054"/>
          </a:solidFill>
          <a:ln w="25400">
            <a:solidFill>
              <a:srgbClr val="FFC72C"/>
            </a:solidFill>
            <a:prstDash val="solid"/>
          </a:ln>
        </p:spPr>
        <p:txBody>
          <a:bodyPr/>
          <a:lstStyle/>
          <a:p>
            <a:endParaRPr lang="en-US" sz="3200"/>
          </a:p>
        </p:txBody>
      </p:sp>
      <p:sp>
        <p:nvSpPr>
          <p:cNvPr id="117" name="Text 115"/>
          <p:cNvSpPr/>
          <p:nvPr/>
        </p:nvSpPr>
        <p:spPr>
          <a:xfrm>
            <a:off x="2194560" y="30403800"/>
            <a:ext cx="704088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Brian Khuu</a:t>
            </a:r>
            <a:endParaRPr lang="en-US" sz="3200" dirty="0"/>
          </a:p>
        </p:txBody>
      </p:sp>
      <p:sp>
        <p:nvSpPr>
          <p:cNvPr id="118" name="Text 116"/>
          <p:cNvSpPr/>
          <p:nvPr/>
        </p:nvSpPr>
        <p:spPr>
          <a:xfrm>
            <a:off x="2194560" y="31043880"/>
            <a:ext cx="7040880" cy="548640"/>
          </a:xfrm>
          <a:prstGeom prst="rect">
            <a:avLst/>
          </a:prstGeom>
          <a:noFill/>
          <a:ln/>
        </p:spPr>
        <p:txBody>
          <a:bodyPr wrap="square" lIns="0" tIns="0" rIns="0" bIns="0" rtlCol="0" anchor="ctr"/>
          <a:lstStyle/>
          <a:p>
            <a:pPr marL="0" indent="0">
              <a:buNone/>
            </a:pPr>
            <a:r>
              <a:rPr lang="en-US" sz="3200" kern="0" spc="100" dirty="0">
                <a:solidFill>
                  <a:srgbClr val="FFC72C"/>
                </a:solidFill>
                <a:latin typeface="Consolas" pitchFamily="34" charset="0"/>
                <a:ea typeface="Consolas" pitchFamily="34" charset="-122"/>
                <a:cs typeface="Consolas" pitchFamily="34" charset="-120"/>
              </a:rPr>
              <a:t>Programming / Gameplay</a:t>
            </a:r>
            <a:endParaRPr lang="en-US" sz="3200" dirty="0"/>
          </a:p>
        </p:txBody>
      </p:sp>
      <p:sp>
        <p:nvSpPr>
          <p:cNvPr id="122" name="Text 120"/>
          <p:cNvSpPr/>
          <p:nvPr/>
        </p:nvSpPr>
        <p:spPr>
          <a:xfrm>
            <a:off x="18745200" y="28346400"/>
            <a:ext cx="15544800" cy="822960"/>
          </a:xfrm>
          <a:prstGeom prst="rect">
            <a:avLst/>
          </a:prstGeom>
          <a:noFill/>
          <a:ln/>
        </p:spPr>
        <p:txBody>
          <a:bodyPr wrap="square" lIns="0" tIns="0" rIns="0" bIns="0" rtlCol="0" anchor="ctr"/>
          <a:lstStyle/>
          <a:p>
            <a:pPr marL="0" indent="0" algn="ctr">
              <a:buNone/>
            </a:pPr>
            <a:r>
              <a:rPr lang="en-US" sz="3200" b="1" kern="0" spc="800" dirty="0">
                <a:solidFill>
                  <a:srgbClr val="FFFFFF"/>
                </a:solidFill>
                <a:latin typeface="Calibri" pitchFamily="34" charset="0"/>
                <a:ea typeface="Calibri" pitchFamily="34" charset="-122"/>
                <a:cs typeface="Calibri" pitchFamily="34" charset="-120"/>
              </a:rPr>
              <a:t>CAL POLY POMONA</a:t>
            </a:r>
            <a:endParaRPr lang="en-US" sz="3200" dirty="0"/>
          </a:p>
        </p:txBody>
      </p:sp>
      <p:sp>
        <p:nvSpPr>
          <p:cNvPr id="123" name="Text 121"/>
          <p:cNvSpPr/>
          <p:nvPr/>
        </p:nvSpPr>
        <p:spPr>
          <a:xfrm>
            <a:off x="18745200" y="29260800"/>
            <a:ext cx="15544800" cy="548640"/>
          </a:xfrm>
          <a:prstGeom prst="rect">
            <a:avLst/>
          </a:prstGeom>
          <a:noFill/>
          <a:ln/>
        </p:spPr>
        <p:txBody>
          <a:bodyPr wrap="square" lIns="0" tIns="0" rIns="0" bIns="0" rtlCol="0" anchor="ctr"/>
          <a:lstStyle/>
          <a:p>
            <a:pPr marL="0" indent="0" algn="ctr">
              <a:buNone/>
            </a:pPr>
            <a:r>
              <a:rPr lang="en-US" sz="3200" i="1" dirty="0">
                <a:solidFill>
                  <a:srgbClr val="FFC72C"/>
                </a:solidFill>
                <a:latin typeface="Calibri" pitchFamily="34" charset="0"/>
                <a:ea typeface="Calibri" pitchFamily="34" charset="-122"/>
                <a:cs typeface="Calibri" pitchFamily="34" charset="-120"/>
              </a:rPr>
              <a:t>Department of Computer Science</a:t>
            </a:r>
            <a:endParaRPr lang="en-US" sz="3200" dirty="0"/>
          </a:p>
        </p:txBody>
      </p:sp>
      <p:sp>
        <p:nvSpPr>
          <p:cNvPr id="124" name="Text 122"/>
          <p:cNvSpPr/>
          <p:nvPr/>
        </p:nvSpPr>
        <p:spPr>
          <a:xfrm>
            <a:off x="18745200" y="29900880"/>
            <a:ext cx="15544800" cy="457200"/>
          </a:xfrm>
          <a:prstGeom prst="rect">
            <a:avLst/>
          </a:prstGeom>
          <a:noFill/>
          <a:ln/>
        </p:spPr>
        <p:txBody>
          <a:bodyPr wrap="square" lIns="0" tIns="0" rIns="0" bIns="0" rtlCol="0" anchor="ctr"/>
          <a:lstStyle/>
          <a:p>
            <a:pPr marL="0" indent="0" algn="ctr">
              <a:buNone/>
            </a:pPr>
            <a:r>
              <a:rPr lang="en-US" sz="3200" dirty="0">
                <a:solidFill>
                  <a:srgbClr val="FFFFFF"/>
                </a:solidFill>
                <a:latin typeface="Consolas" pitchFamily="34" charset="0"/>
                <a:ea typeface="Consolas" pitchFamily="34" charset="-122"/>
                <a:cs typeface="Consolas" pitchFamily="34" charset="-120"/>
              </a:rPr>
              <a:t>CS 4700  ·  Spring 2026  ·  Prof. Fatemeh Jamshidi</a:t>
            </a:r>
            <a:endParaRPr lang="en-US" sz="3200" dirty="0"/>
          </a:p>
        </p:txBody>
      </p:sp>
      <p:sp>
        <p:nvSpPr>
          <p:cNvPr id="125" name="Text 123"/>
          <p:cNvSpPr/>
          <p:nvPr/>
        </p:nvSpPr>
        <p:spPr>
          <a:xfrm>
            <a:off x="18745200" y="30632400"/>
            <a:ext cx="15544800" cy="548640"/>
          </a:xfrm>
          <a:prstGeom prst="rect">
            <a:avLst/>
          </a:prstGeom>
          <a:noFill/>
          <a:ln/>
        </p:spPr>
        <p:txBody>
          <a:bodyPr wrap="square" lIns="0" tIns="0" rIns="0" bIns="0" rtlCol="0" anchor="ctr"/>
          <a:lstStyle/>
          <a:p>
            <a:pPr marL="0" indent="0" algn="ctr">
              <a:buNone/>
            </a:pPr>
            <a:r>
              <a:rPr lang="en-US" sz="3200" i="1" kern="0" spc="400" dirty="0">
                <a:solidFill>
                  <a:srgbClr val="FFC72C"/>
                </a:solidFill>
                <a:latin typeface="Georgia" pitchFamily="34" charset="0"/>
                <a:ea typeface="Georgia" pitchFamily="34" charset="-122"/>
                <a:cs typeface="Georgia" pitchFamily="34" charset="-120"/>
              </a:rPr>
              <a:t>learn.  prototype.  ship.</a:t>
            </a:r>
            <a:endParaRPr lang="en-US" sz="3200" dirty="0"/>
          </a:p>
        </p:txBody>
      </p:sp>
      <p:sp>
        <p:nvSpPr>
          <p:cNvPr id="126" name="Text 124"/>
          <p:cNvSpPr/>
          <p:nvPr/>
        </p:nvSpPr>
        <p:spPr>
          <a:xfrm>
            <a:off x="33832800" y="27889200"/>
            <a:ext cx="9418320" cy="640080"/>
          </a:xfrm>
          <a:prstGeom prst="rect">
            <a:avLst/>
          </a:prstGeom>
          <a:noFill/>
          <a:ln/>
        </p:spPr>
        <p:txBody>
          <a:bodyPr wrap="square" lIns="0" tIns="0" rIns="0" bIns="0" rtlCol="0" anchor="ctr"/>
          <a:lstStyle/>
          <a:p>
            <a:pPr marL="0" indent="0" algn="r">
              <a:buNone/>
            </a:pPr>
            <a:r>
              <a:rPr lang="en-US" sz="3200" b="1" kern="0" spc="600" dirty="0">
                <a:solidFill>
                  <a:srgbClr val="FFC72C"/>
                </a:solidFill>
                <a:latin typeface="Consolas" pitchFamily="34" charset="0"/>
                <a:ea typeface="Consolas" pitchFamily="34" charset="-122"/>
                <a:cs typeface="Consolas" pitchFamily="34" charset="-120"/>
              </a:rPr>
              <a:t>PLAY THE BUILD</a:t>
            </a:r>
            <a:endParaRPr lang="en-US" sz="3200" dirty="0"/>
          </a:p>
        </p:txBody>
      </p:sp>
      <p:sp>
        <p:nvSpPr>
          <p:cNvPr id="127" name="Shape 125"/>
          <p:cNvSpPr/>
          <p:nvPr/>
        </p:nvSpPr>
        <p:spPr>
          <a:xfrm>
            <a:off x="38221920" y="28712160"/>
            <a:ext cx="3657600" cy="3657600"/>
          </a:xfrm>
          <a:prstGeom prst="rect">
            <a:avLst/>
          </a:prstGeom>
          <a:solidFill>
            <a:srgbClr val="FFFFFF"/>
          </a:solidFill>
          <a:ln w="31750">
            <a:solidFill>
              <a:srgbClr val="FFC72C"/>
            </a:solidFill>
            <a:prstDash val="solid"/>
          </a:ln>
        </p:spPr>
        <p:txBody>
          <a:bodyPr/>
          <a:lstStyle/>
          <a:p>
            <a:endParaRPr lang="en-US" sz="3200"/>
          </a:p>
        </p:txBody>
      </p:sp>
      <p:sp>
        <p:nvSpPr>
          <p:cNvPr id="128" name="Text 126"/>
          <p:cNvSpPr/>
          <p:nvPr/>
        </p:nvSpPr>
        <p:spPr>
          <a:xfrm>
            <a:off x="38221920" y="28712160"/>
            <a:ext cx="3657600" cy="3657600"/>
          </a:xfrm>
          <a:prstGeom prst="rect">
            <a:avLst/>
          </a:prstGeom>
          <a:noFill/>
          <a:ln/>
        </p:spPr>
        <p:txBody>
          <a:bodyPr wrap="square" lIns="0" tIns="0" rIns="0" bIns="0" rtlCol="0" anchor="ctr"/>
          <a:lstStyle/>
          <a:p>
            <a:pPr marL="0" indent="0" algn="ctr">
              <a:buNone/>
            </a:pPr>
            <a:endParaRPr lang="en-US" sz="3200" dirty="0"/>
          </a:p>
        </p:txBody>
      </p:sp>
      <p:sp>
        <p:nvSpPr>
          <p:cNvPr id="129" name="Text 127"/>
          <p:cNvSpPr/>
          <p:nvPr/>
        </p:nvSpPr>
        <p:spPr>
          <a:xfrm>
            <a:off x="33568802" y="32369760"/>
            <a:ext cx="10104121" cy="548640"/>
          </a:xfrm>
          <a:prstGeom prst="rect">
            <a:avLst/>
          </a:prstGeom>
          <a:noFill/>
          <a:ln/>
        </p:spPr>
        <p:txBody>
          <a:bodyPr wrap="square" lIns="0" tIns="0" rIns="0" bIns="0" rtlCol="0" anchor="ctr"/>
          <a:lstStyle/>
          <a:p>
            <a:pPr algn="r"/>
            <a:r>
              <a:rPr lang="en-US" sz="3200" dirty="0">
                <a:solidFill>
                  <a:srgbClr val="FFFFFF"/>
                </a:solidFill>
                <a:latin typeface="Consolas" pitchFamily="34" charset="0"/>
                <a:ea typeface="Consolas" pitchFamily="34" charset="-122"/>
                <a:cs typeface="Consolas" pitchFamily="34" charset="-120"/>
              </a:rPr>
              <a:t>https://github.com/ericmfierro/exo-protocol</a:t>
            </a:r>
            <a:endParaRPr lang="en-US" sz="3200" dirty="0"/>
          </a:p>
        </p:txBody>
      </p:sp>
      <p:sp>
        <p:nvSpPr>
          <p:cNvPr id="130" name="Shape 39">
            <a:extLst>
              <a:ext uri="{FF2B5EF4-FFF2-40B4-BE49-F238E27FC236}">
                <a16:creationId xmlns:a16="http://schemas.microsoft.com/office/drawing/2014/main" id="{E356F8DE-FB79-53B4-8003-A234C9CF55C8}"/>
              </a:ext>
            </a:extLst>
          </p:cNvPr>
          <p:cNvSpPr/>
          <p:nvPr/>
        </p:nvSpPr>
        <p:spPr>
          <a:xfrm>
            <a:off x="35981640" y="1592580"/>
            <a:ext cx="6492240" cy="3703320"/>
          </a:xfrm>
          <a:prstGeom prst="rect">
            <a:avLst/>
          </a:prstGeom>
          <a:solidFill>
            <a:srgbClr val="F5F5F2"/>
          </a:solidFill>
          <a:ln w="25400">
            <a:solidFill>
              <a:srgbClr val="1E5631"/>
            </a:solidFill>
            <a:prstDash val="solid"/>
          </a:ln>
        </p:spPr>
        <p:txBody>
          <a:bodyPr/>
          <a:lstStyle/>
          <a:p>
            <a:endParaRPr lang="en-US" sz="3200"/>
          </a:p>
        </p:txBody>
      </p:sp>
      <p:sp>
        <p:nvSpPr>
          <p:cNvPr id="133" name="Text 42">
            <a:extLst>
              <a:ext uri="{FF2B5EF4-FFF2-40B4-BE49-F238E27FC236}">
                <a16:creationId xmlns:a16="http://schemas.microsoft.com/office/drawing/2014/main" id="{4CDAD3C9-7F84-5851-E95C-5E43B9D73CE4}"/>
              </a:ext>
            </a:extLst>
          </p:cNvPr>
          <p:cNvSpPr/>
          <p:nvPr/>
        </p:nvSpPr>
        <p:spPr>
          <a:xfrm>
            <a:off x="35981640" y="2049780"/>
            <a:ext cx="6492240" cy="3154680"/>
          </a:xfrm>
          <a:prstGeom prst="rect">
            <a:avLst/>
          </a:prstGeom>
          <a:noFill/>
          <a:ln/>
        </p:spPr>
        <p:txBody>
          <a:bodyPr wrap="square" lIns="0" tIns="0" rIns="0" bIns="0" rtlCol="0" anchor="ctr"/>
          <a:lstStyle/>
          <a:p>
            <a:pPr marL="0" indent="0" algn="ctr">
              <a:buNone/>
            </a:pPr>
            <a:r>
              <a:rPr lang="en-US" sz="3200" dirty="0">
                <a:solidFill>
                  <a:srgbClr val="9C988B"/>
                </a:solidFill>
                <a:latin typeface="Consolas" pitchFamily="34" charset="0"/>
                <a:cs typeface="Consolas" pitchFamily="34" charset="-120"/>
              </a:rPr>
              <a:t>Your Game LOGO</a:t>
            </a:r>
            <a:endParaRPr lang="en-US" sz="3200" dirty="0"/>
          </a:p>
        </p:txBody>
      </p:sp>
      <p:pic>
        <p:nvPicPr>
          <p:cNvPr id="132" name="Picture 131">
            <a:extLst>
              <a:ext uri="{FF2B5EF4-FFF2-40B4-BE49-F238E27FC236}">
                <a16:creationId xmlns:a16="http://schemas.microsoft.com/office/drawing/2014/main" id="{ECD7F093-ECC3-B0C7-555E-15EE750D9A18}"/>
              </a:ext>
            </a:extLst>
          </p:cNvPr>
          <p:cNvPicPr>
            <a:picLocks noChangeAspect="1"/>
          </p:cNvPicPr>
          <p:nvPr/>
        </p:nvPicPr>
        <p:blipFill>
          <a:blip r:embed="rId3"/>
          <a:stretch>
            <a:fillRect/>
          </a:stretch>
        </p:blipFill>
        <p:spPr>
          <a:xfrm>
            <a:off x="35981640" y="1592580"/>
            <a:ext cx="6492240" cy="3703319"/>
          </a:xfrm>
          <a:prstGeom prst="rect">
            <a:avLst/>
          </a:prstGeom>
        </p:spPr>
      </p:pic>
      <p:pic>
        <p:nvPicPr>
          <p:cNvPr id="137" name="Picture 136">
            <a:extLst>
              <a:ext uri="{FF2B5EF4-FFF2-40B4-BE49-F238E27FC236}">
                <a16:creationId xmlns:a16="http://schemas.microsoft.com/office/drawing/2014/main" id="{4A6CB3B4-B6C9-8763-E644-193DA1CA3B78}"/>
              </a:ext>
            </a:extLst>
          </p:cNvPr>
          <p:cNvPicPr>
            <a:picLocks noChangeAspect="1"/>
          </p:cNvPicPr>
          <p:nvPr/>
        </p:nvPicPr>
        <p:blipFill>
          <a:blip r:embed="rId4"/>
          <a:stretch>
            <a:fillRect/>
          </a:stretch>
        </p:blipFill>
        <p:spPr>
          <a:xfrm>
            <a:off x="822960" y="15727680"/>
            <a:ext cx="2011680" cy="1965960"/>
          </a:xfrm>
          <a:prstGeom prst="rect">
            <a:avLst/>
          </a:prstGeom>
        </p:spPr>
      </p:pic>
      <p:pic>
        <p:nvPicPr>
          <p:cNvPr id="139" name="Picture 138">
            <a:extLst>
              <a:ext uri="{FF2B5EF4-FFF2-40B4-BE49-F238E27FC236}">
                <a16:creationId xmlns:a16="http://schemas.microsoft.com/office/drawing/2014/main" id="{61BDED80-8323-06CD-1019-001DCA3188AF}"/>
              </a:ext>
            </a:extLst>
          </p:cNvPr>
          <p:cNvPicPr>
            <a:picLocks noChangeAspect="1"/>
          </p:cNvPicPr>
          <p:nvPr/>
        </p:nvPicPr>
        <p:blipFill>
          <a:blip r:embed="rId5"/>
          <a:stretch>
            <a:fillRect/>
          </a:stretch>
        </p:blipFill>
        <p:spPr>
          <a:xfrm>
            <a:off x="822960" y="13075920"/>
            <a:ext cx="2069559" cy="2011680"/>
          </a:xfrm>
          <a:prstGeom prst="rect">
            <a:avLst/>
          </a:prstGeom>
        </p:spPr>
      </p:pic>
      <p:pic>
        <p:nvPicPr>
          <p:cNvPr id="141" name="Picture 140">
            <a:extLst>
              <a:ext uri="{FF2B5EF4-FFF2-40B4-BE49-F238E27FC236}">
                <a16:creationId xmlns:a16="http://schemas.microsoft.com/office/drawing/2014/main" id="{B32137B9-0229-940E-A409-B543CBE68A4C}"/>
              </a:ext>
            </a:extLst>
          </p:cNvPr>
          <p:cNvPicPr>
            <a:picLocks noChangeAspect="1"/>
          </p:cNvPicPr>
          <p:nvPr/>
        </p:nvPicPr>
        <p:blipFill>
          <a:blip r:embed="rId6"/>
          <a:stretch>
            <a:fillRect/>
          </a:stretch>
        </p:blipFill>
        <p:spPr>
          <a:xfrm>
            <a:off x="822961" y="10469880"/>
            <a:ext cx="2011680" cy="2011679"/>
          </a:xfrm>
          <a:prstGeom prst="rect">
            <a:avLst/>
          </a:prstGeom>
        </p:spPr>
      </p:pic>
      <p:pic>
        <p:nvPicPr>
          <p:cNvPr id="143" name="Picture 142">
            <a:extLst>
              <a:ext uri="{FF2B5EF4-FFF2-40B4-BE49-F238E27FC236}">
                <a16:creationId xmlns:a16="http://schemas.microsoft.com/office/drawing/2014/main" id="{53BFCF11-D7E2-1FE2-F264-E14B23FBCEF6}"/>
              </a:ext>
            </a:extLst>
          </p:cNvPr>
          <p:cNvPicPr>
            <a:picLocks noChangeAspect="1"/>
          </p:cNvPicPr>
          <p:nvPr/>
        </p:nvPicPr>
        <p:blipFill>
          <a:blip r:embed="rId7"/>
          <a:stretch>
            <a:fillRect/>
          </a:stretch>
        </p:blipFill>
        <p:spPr>
          <a:xfrm>
            <a:off x="868679" y="7909560"/>
            <a:ext cx="2023839" cy="2011680"/>
          </a:xfrm>
          <a:prstGeom prst="rect">
            <a:avLst/>
          </a:prstGeom>
        </p:spPr>
      </p:pic>
      <p:pic>
        <p:nvPicPr>
          <p:cNvPr id="155" name="Picture 154">
            <a:extLst>
              <a:ext uri="{FF2B5EF4-FFF2-40B4-BE49-F238E27FC236}">
                <a16:creationId xmlns:a16="http://schemas.microsoft.com/office/drawing/2014/main" id="{E61090EC-6B7C-A2C8-833A-43C60D2C70B7}"/>
              </a:ext>
            </a:extLst>
          </p:cNvPr>
          <p:cNvPicPr>
            <a:picLocks noChangeAspect="1"/>
          </p:cNvPicPr>
          <p:nvPr/>
        </p:nvPicPr>
        <p:blipFill>
          <a:blip r:embed="rId8"/>
          <a:stretch>
            <a:fillRect/>
          </a:stretch>
        </p:blipFill>
        <p:spPr>
          <a:xfrm>
            <a:off x="14584680" y="12527280"/>
            <a:ext cx="6492240" cy="3794760"/>
          </a:xfrm>
          <a:prstGeom prst="rect">
            <a:avLst/>
          </a:prstGeom>
        </p:spPr>
      </p:pic>
      <p:pic>
        <p:nvPicPr>
          <p:cNvPr id="157" name="Picture 156">
            <a:extLst>
              <a:ext uri="{FF2B5EF4-FFF2-40B4-BE49-F238E27FC236}">
                <a16:creationId xmlns:a16="http://schemas.microsoft.com/office/drawing/2014/main" id="{CC39D1AA-BE25-2DD8-5A29-333FB8AE2BDA}"/>
              </a:ext>
            </a:extLst>
          </p:cNvPr>
          <p:cNvPicPr>
            <a:picLocks noChangeAspect="1"/>
          </p:cNvPicPr>
          <p:nvPr/>
        </p:nvPicPr>
        <p:blipFill>
          <a:blip r:embed="rId9"/>
          <a:stretch>
            <a:fillRect/>
          </a:stretch>
        </p:blipFill>
        <p:spPr>
          <a:xfrm>
            <a:off x="21442680" y="7882890"/>
            <a:ext cx="6492239" cy="3729990"/>
          </a:xfrm>
          <a:prstGeom prst="rect">
            <a:avLst/>
          </a:prstGeom>
        </p:spPr>
      </p:pic>
      <p:pic>
        <p:nvPicPr>
          <p:cNvPr id="159" name="Picture 158">
            <a:extLst>
              <a:ext uri="{FF2B5EF4-FFF2-40B4-BE49-F238E27FC236}">
                <a16:creationId xmlns:a16="http://schemas.microsoft.com/office/drawing/2014/main" id="{915DDB11-D6C2-7F23-C935-C0FD149A088D}"/>
              </a:ext>
            </a:extLst>
          </p:cNvPr>
          <p:cNvPicPr>
            <a:picLocks noChangeAspect="1"/>
          </p:cNvPicPr>
          <p:nvPr/>
        </p:nvPicPr>
        <p:blipFill>
          <a:blip r:embed="rId10"/>
          <a:stretch>
            <a:fillRect/>
          </a:stretch>
        </p:blipFill>
        <p:spPr>
          <a:xfrm>
            <a:off x="21442680" y="12630150"/>
            <a:ext cx="6492239" cy="3691890"/>
          </a:xfrm>
          <a:prstGeom prst="rect">
            <a:avLst/>
          </a:prstGeom>
        </p:spPr>
      </p:pic>
      <p:pic>
        <p:nvPicPr>
          <p:cNvPr id="161" name="Picture 160">
            <a:extLst>
              <a:ext uri="{FF2B5EF4-FFF2-40B4-BE49-F238E27FC236}">
                <a16:creationId xmlns:a16="http://schemas.microsoft.com/office/drawing/2014/main" id="{A621B7A3-4DA9-C50B-AA61-237EB8E875FA}"/>
              </a:ext>
            </a:extLst>
          </p:cNvPr>
          <p:cNvPicPr>
            <a:picLocks noChangeAspect="1"/>
          </p:cNvPicPr>
          <p:nvPr/>
        </p:nvPicPr>
        <p:blipFill>
          <a:blip r:embed="rId11"/>
          <a:stretch>
            <a:fillRect/>
          </a:stretch>
        </p:blipFill>
        <p:spPr>
          <a:xfrm>
            <a:off x="14584680" y="17369790"/>
            <a:ext cx="6492240" cy="3703320"/>
          </a:xfrm>
          <a:prstGeom prst="rect">
            <a:avLst/>
          </a:prstGeom>
        </p:spPr>
      </p:pic>
      <p:pic>
        <p:nvPicPr>
          <p:cNvPr id="163" name="Picture 162">
            <a:extLst>
              <a:ext uri="{FF2B5EF4-FFF2-40B4-BE49-F238E27FC236}">
                <a16:creationId xmlns:a16="http://schemas.microsoft.com/office/drawing/2014/main" id="{2C967AE7-29A9-CD84-8048-A98E86B9D121}"/>
              </a:ext>
            </a:extLst>
          </p:cNvPr>
          <p:cNvPicPr>
            <a:picLocks noChangeAspect="1"/>
          </p:cNvPicPr>
          <p:nvPr/>
        </p:nvPicPr>
        <p:blipFill>
          <a:blip r:embed="rId12"/>
          <a:stretch>
            <a:fillRect/>
          </a:stretch>
        </p:blipFill>
        <p:spPr>
          <a:xfrm>
            <a:off x="21442680" y="17315775"/>
            <a:ext cx="6492239" cy="3806866"/>
          </a:xfrm>
          <a:prstGeom prst="rect">
            <a:avLst/>
          </a:prstGeom>
        </p:spPr>
      </p:pic>
      <p:pic>
        <p:nvPicPr>
          <p:cNvPr id="165" name="Picture 164">
            <a:extLst>
              <a:ext uri="{FF2B5EF4-FFF2-40B4-BE49-F238E27FC236}">
                <a16:creationId xmlns:a16="http://schemas.microsoft.com/office/drawing/2014/main" id="{1EAE8E7E-1BCB-93AD-8DEF-AF90DB145852}"/>
              </a:ext>
            </a:extLst>
          </p:cNvPr>
          <p:cNvPicPr>
            <a:picLocks noChangeAspect="1"/>
          </p:cNvPicPr>
          <p:nvPr/>
        </p:nvPicPr>
        <p:blipFill>
          <a:blip r:embed="rId13"/>
          <a:stretch>
            <a:fillRect/>
          </a:stretch>
        </p:blipFill>
        <p:spPr>
          <a:xfrm>
            <a:off x="29352240" y="7882890"/>
            <a:ext cx="13715999" cy="6857999"/>
          </a:xfrm>
          <a:prstGeom prst="rect">
            <a:avLst/>
          </a:prstGeom>
        </p:spPr>
      </p:pic>
      <p:pic>
        <p:nvPicPr>
          <p:cNvPr id="167" name="Picture 166">
            <a:extLst>
              <a:ext uri="{FF2B5EF4-FFF2-40B4-BE49-F238E27FC236}">
                <a16:creationId xmlns:a16="http://schemas.microsoft.com/office/drawing/2014/main" id="{833C48A9-4F0C-3D8F-18E8-2FB486AAD33B}"/>
              </a:ext>
            </a:extLst>
          </p:cNvPr>
          <p:cNvPicPr>
            <a:picLocks noChangeAspect="1"/>
          </p:cNvPicPr>
          <p:nvPr/>
        </p:nvPicPr>
        <p:blipFill>
          <a:blip r:embed="rId14"/>
          <a:stretch>
            <a:fillRect/>
          </a:stretch>
        </p:blipFill>
        <p:spPr>
          <a:xfrm>
            <a:off x="14584679" y="7909560"/>
            <a:ext cx="6492241" cy="3657600"/>
          </a:xfrm>
          <a:prstGeom prst="rect">
            <a:avLst/>
          </a:prstGeom>
        </p:spPr>
      </p:pic>
      <p:pic>
        <p:nvPicPr>
          <p:cNvPr id="169" name="Picture 168">
            <a:extLst>
              <a:ext uri="{FF2B5EF4-FFF2-40B4-BE49-F238E27FC236}">
                <a16:creationId xmlns:a16="http://schemas.microsoft.com/office/drawing/2014/main" id="{3D440A82-315F-722C-592E-4C1C94C7F530}"/>
              </a:ext>
            </a:extLst>
          </p:cNvPr>
          <p:cNvPicPr>
            <a:picLocks noChangeAspect="1"/>
          </p:cNvPicPr>
          <p:nvPr/>
        </p:nvPicPr>
        <p:blipFill>
          <a:blip r:embed="rId15"/>
          <a:stretch>
            <a:fillRect/>
          </a:stretch>
        </p:blipFill>
        <p:spPr>
          <a:xfrm>
            <a:off x="29352241" y="15023592"/>
            <a:ext cx="6675120" cy="4023360"/>
          </a:xfrm>
          <a:prstGeom prst="rect">
            <a:avLst/>
          </a:prstGeom>
        </p:spPr>
      </p:pic>
      <p:pic>
        <p:nvPicPr>
          <p:cNvPr id="171" name="Picture 170">
            <a:extLst>
              <a:ext uri="{FF2B5EF4-FFF2-40B4-BE49-F238E27FC236}">
                <a16:creationId xmlns:a16="http://schemas.microsoft.com/office/drawing/2014/main" id="{A918BFBB-65CE-51FD-BD34-A41D90C71DD5}"/>
              </a:ext>
            </a:extLst>
          </p:cNvPr>
          <p:cNvPicPr>
            <a:picLocks noChangeAspect="1"/>
          </p:cNvPicPr>
          <p:nvPr/>
        </p:nvPicPr>
        <p:blipFill>
          <a:blip r:embed="rId16"/>
          <a:stretch>
            <a:fillRect/>
          </a:stretch>
        </p:blipFill>
        <p:spPr>
          <a:xfrm>
            <a:off x="36393120" y="14996160"/>
            <a:ext cx="6675120" cy="4094767"/>
          </a:xfrm>
          <a:prstGeom prst="rect">
            <a:avLst/>
          </a:prstGeom>
        </p:spPr>
      </p:pic>
      <p:pic>
        <p:nvPicPr>
          <p:cNvPr id="173" name="Picture 172">
            <a:extLst>
              <a:ext uri="{FF2B5EF4-FFF2-40B4-BE49-F238E27FC236}">
                <a16:creationId xmlns:a16="http://schemas.microsoft.com/office/drawing/2014/main" id="{4795B0DA-FF29-7777-23E6-DD191BF6E850}"/>
              </a:ext>
            </a:extLst>
          </p:cNvPr>
          <p:cNvPicPr>
            <a:picLocks noChangeAspect="1"/>
          </p:cNvPicPr>
          <p:nvPr/>
        </p:nvPicPr>
        <p:blipFill>
          <a:blip r:embed="rId17"/>
          <a:stretch>
            <a:fillRect/>
          </a:stretch>
        </p:blipFill>
        <p:spPr>
          <a:xfrm>
            <a:off x="38221920" y="28712160"/>
            <a:ext cx="3657599"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347</Words>
  <Application>Microsoft Office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Consolas</vt:lpstr>
      <vt:lpstr>Georgia</vt:lpstr>
      <vt:lpstr>Impact</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4700 Game Showcase Poster Template</dc:title>
  <dc:subject>PptxGenJS Presentation</dc:subject>
  <dc:creator>Prof. Fatemeh Jamshidi — CS 4700</dc:creator>
  <cp:lastModifiedBy>Eric M. Fierro</cp:lastModifiedBy>
  <cp:revision>6</cp:revision>
  <dcterms:created xsi:type="dcterms:W3CDTF">2026-05-05T20:31:56Z</dcterms:created>
  <dcterms:modified xsi:type="dcterms:W3CDTF">2026-05-14T04:00:17Z</dcterms:modified>
</cp:coreProperties>
</file>